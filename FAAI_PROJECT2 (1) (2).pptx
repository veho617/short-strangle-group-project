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4" d="100"/>
          <a:sy n="124" d="100"/>
        </p:scale>
        <p:origin x="89" y="16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2467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1E2D3D"/>
          </a:solidFill>
          <a:ln w="12700">
            <a:solidFill>
              <a:srgbClr val="1E2D3D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3" name="Shape 1"/>
          <p:cNvSpPr/>
          <p:nvPr/>
        </p:nvSpPr>
        <p:spPr>
          <a:xfrm>
            <a:off x="5303520" y="0"/>
            <a:ext cx="36576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502920" y="502920"/>
            <a:ext cx="4572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ALGORITHMIC OPTIONS STRATEGY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502920" y="914400"/>
            <a:ext cx="4572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Weekly Strangle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502920" y="1572768"/>
            <a:ext cx="4526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Adaptive Parameter Selection via VIX × DTE Regime Conditioning</a:t>
            </a:r>
          </a:p>
          <a:p>
            <a:pPr marL="0" indent="0" algn="l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Manan Moraje and </a:t>
            </a:r>
            <a:r>
              <a:rPr lang="en-US" sz="1200" dirty="0" err="1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Veho</a:t>
            </a: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Bogi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4297680" cy="0"/>
          </a:xfrm>
          <a:prstGeom prst="line">
            <a:avLst/>
          </a:prstGeom>
          <a:noFill/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502920" y="2331720"/>
            <a:ext cx="201168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02920" y="2331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Strangle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743200" y="2331720"/>
            <a:ext cx="201168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743200" y="2331720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NIFTY Weekly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02920" y="2734056"/>
            <a:ext cx="201168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502920" y="27340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09:20 / Exit 15:15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0" y="2734056"/>
            <a:ext cx="2011680" cy="292608"/>
          </a:xfrm>
          <a:prstGeom prst="roundRect">
            <a:avLst>
              <a:gd name="adj" fmla="val 12500"/>
            </a:avLst>
          </a:prstGeom>
          <a:solidFill>
            <a:srgbClr val="1E293B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2743200" y="2734056"/>
            <a:ext cx="2011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E2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 – 2025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502920" y="443484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 Project — Institutional Strategy Presentation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5623560" y="475488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00" b="1" kern="0" spc="2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SUMMARY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5623560" y="713232"/>
            <a:ext cx="3291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7-Year Backtest  ·  ₹1,21,000 Starting Capital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623560" y="1051560"/>
            <a:ext cx="1591056" cy="1097280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5623560" y="1051560"/>
            <a:ext cx="1591056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5623560" y="1234440"/>
            <a:ext cx="1591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19.2%</a:t>
            </a:r>
            <a:endParaRPr lang="en-US" sz="2800" dirty="0"/>
          </a:p>
        </p:txBody>
      </p:sp>
      <p:sp>
        <p:nvSpPr>
          <p:cNvPr id="22" name="Text 20"/>
          <p:cNvSpPr/>
          <p:nvPr/>
        </p:nvSpPr>
        <p:spPr>
          <a:xfrm>
            <a:off x="5669280" y="18013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(Flat Lot)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7379208" y="1051560"/>
            <a:ext cx="1591056" cy="1097280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7379208" y="1051560"/>
            <a:ext cx="1591056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7379208" y="1234440"/>
            <a:ext cx="1591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39.7%</a:t>
            </a:r>
            <a:endParaRPr lang="en-US" sz="2800" dirty="0"/>
          </a:p>
        </p:txBody>
      </p:sp>
      <p:sp>
        <p:nvSpPr>
          <p:cNvPr id="26" name="Text 24"/>
          <p:cNvSpPr/>
          <p:nvPr/>
        </p:nvSpPr>
        <p:spPr>
          <a:xfrm>
            <a:off x="7424928" y="180136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(Compounded)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5623560" y="2286000"/>
            <a:ext cx="1591056" cy="1097280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5623560" y="2286000"/>
            <a:ext cx="1591056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5623560" y="2468880"/>
            <a:ext cx="1591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2.78</a:t>
            </a:r>
            <a:endParaRPr lang="en-US" sz="2800" dirty="0"/>
          </a:p>
        </p:txBody>
      </p:sp>
      <p:sp>
        <p:nvSpPr>
          <p:cNvPr id="30" name="Text 28"/>
          <p:cNvSpPr/>
          <p:nvPr/>
        </p:nvSpPr>
        <p:spPr>
          <a:xfrm>
            <a:off x="5669280" y="30358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 (Flat)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7379208" y="2286000"/>
            <a:ext cx="1591056" cy="1097280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7379208" y="2286000"/>
            <a:ext cx="1591056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379208" y="2468880"/>
            <a:ext cx="1591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2800" dirty="0"/>
          </a:p>
        </p:txBody>
      </p:sp>
      <p:sp>
        <p:nvSpPr>
          <p:cNvPr id="34" name="Text 32"/>
          <p:cNvSpPr/>
          <p:nvPr/>
        </p:nvSpPr>
        <p:spPr>
          <a:xfrm>
            <a:off x="7424928" y="303580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5623560" y="3520440"/>
            <a:ext cx="1591056" cy="1097280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5623560" y="3520440"/>
            <a:ext cx="1591056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5623560" y="3703320"/>
            <a:ext cx="1591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−6.5%</a:t>
            </a:r>
            <a:endParaRPr lang="en-US" sz="2800" dirty="0"/>
          </a:p>
        </p:txBody>
      </p:sp>
      <p:sp>
        <p:nvSpPr>
          <p:cNvPr id="38" name="Text 36"/>
          <p:cNvSpPr/>
          <p:nvPr/>
        </p:nvSpPr>
        <p:spPr>
          <a:xfrm>
            <a:off x="5669280" y="42702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 (Flat)</a:t>
            </a:r>
            <a:endParaRPr lang="en-US" sz="800" dirty="0"/>
          </a:p>
        </p:txBody>
      </p:sp>
      <p:sp>
        <p:nvSpPr>
          <p:cNvPr id="39" name="Shape 37"/>
          <p:cNvSpPr/>
          <p:nvPr/>
        </p:nvSpPr>
        <p:spPr>
          <a:xfrm>
            <a:off x="7379208" y="3520440"/>
            <a:ext cx="1591056" cy="1097280"/>
          </a:xfrm>
          <a:prstGeom prst="rect">
            <a:avLst/>
          </a:prstGeom>
          <a:solidFill>
            <a:srgbClr val="1E293B"/>
          </a:solidFill>
          <a:ln w="6350">
            <a:solidFill>
              <a:srgbClr val="1E3A5F"/>
            </a:solidFill>
            <a:prstDash val="solid"/>
          </a:ln>
          <a:effectLst>
            <a:outerShdw blurRad="101600" dist="254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7379208" y="3520440"/>
            <a:ext cx="1591056" cy="3657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379208" y="3703320"/>
            <a:ext cx="1591056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2.98×</a:t>
            </a:r>
            <a:endParaRPr lang="en-US" sz="2800" dirty="0"/>
          </a:p>
        </p:txBody>
      </p:sp>
      <p:sp>
        <p:nvSpPr>
          <p:cNvPr id="42" name="Text 40"/>
          <p:cNvSpPr/>
          <p:nvPr/>
        </p:nvSpPr>
        <p:spPr>
          <a:xfrm>
            <a:off x="7424928" y="4270248"/>
            <a:ext cx="1508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Calmar Ratio (Flat)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 Design  &amp;  Adaptive Parameter Selection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4048" y="1005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 Strategy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1353312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658368" y="134874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Short Strangle on NIFTY weekly expiry contracts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84048" y="1874520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621792" y="1837944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 sale of ITM Call and ITM Put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84048" y="239572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21792" y="2359152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18 parameter combinations tested: 3 offsets (±50, ±100, ±150 points) across 6 stop-loss levels (25% – 50%)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84048" y="2916936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621792" y="2880360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No single fixed configuration dominates across all market regimes — motivating adaptive selection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89120" y="960120"/>
            <a:ext cx="0" cy="38404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663440" y="1005840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Rule Architecture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63440" y="1335024"/>
            <a:ext cx="4160520" cy="151790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4663440" y="1335024"/>
            <a:ext cx="64008" cy="151790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4828032" y="1408176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ADAPTIVE RULE  —  VIX  →  Stop-Loss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828032" y="165506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Stop-loss is conditioned on India VIX at entry. Offset remains fixed at ±100.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828032" y="1975104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 &lt; 15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07024" y="2002536"/>
            <a:ext cx="566928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Text 20"/>
          <p:cNvSpPr/>
          <p:nvPr/>
        </p:nvSpPr>
        <p:spPr>
          <a:xfrm>
            <a:off x="5907024" y="2002536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 30%</a:t>
            </a:r>
            <a:endParaRPr lang="en-US" sz="750" dirty="0"/>
          </a:p>
        </p:txBody>
      </p:sp>
      <p:sp>
        <p:nvSpPr>
          <p:cNvPr id="23" name="Text 21"/>
          <p:cNvSpPr/>
          <p:nvPr/>
        </p:nvSpPr>
        <p:spPr>
          <a:xfrm>
            <a:off x="6537960" y="1975104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volatility — cut losses early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828032" y="2189988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≤ VIX &lt; 22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907024" y="2217420"/>
            <a:ext cx="566928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5907024" y="2217420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 40%</a:t>
            </a:r>
            <a:endParaRPr lang="en-US" sz="750" dirty="0"/>
          </a:p>
        </p:txBody>
      </p:sp>
      <p:sp>
        <p:nvSpPr>
          <p:cNvPr id="27" name="Text 25"/>
          <p:cNvSpPr/>
          <p:nvPr/>
        </p:nvSpPr>
        <p:spPr>
          <a:xfrm>
            <a:off x="6537960" y="2189988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regime — standard cushion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828032" y="2404872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≤ VIX &lt; 28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5907024" y="2432304"/>
            <a:ext cx="566928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Text 28"/>
          <p:cNvSpPr/>
          <p:nvPr/>
        </p:nvSpPr>
        <p:spPr>
          <a:xfrm>
            <a:off x="5907024" y="243230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 30%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6537960" y="2404872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 — limit tail exposure</a:t>
            </a:r>
            <a:endParaRPr lang="en-US" sz="750" dirty="0"/>
          </a:p>
        </p:txBody>
      </p:sp>
      <p:sp>
        <p:nvSpPr>
          <p:cNvPr id="32" name="Text 30"/>
          <p:cNvSpPr/>
          <p:nvPr/>
        </p:nvSpPr>
        <p:spPr>
          <a:xfrm>
            <a:off x="4828032" y="2619756"/>
            <a:ext cx="10515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 ≥ 28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907024" y="2647188"/>
            <a:ext cx="566928" cy="16459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5907024" y="2647188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 40%</a:t>
            </a:r>
            <a:endParaRPr lang="en-US" sz="750" dirty="0"/>
          </a:p>
        </p:txBody>
      </p:sp>
      <p:sp>
        <p:nvSpPr>
          <p:cNvPr id="35" name="Text 33"/>
          <p:cNvSpPr/>
          <p:nvPr/>
        </p:nvSpPr>
        <p:spPr>
          <a:xfrm>
            <a:off x="6537960" y="2619756"/>
            <a:ext cx="21488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7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Crisis premium absorbs noise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4663440" y="2944368"/>
            <a:ext cx="4160520" cy="192024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663440" y="2944368"/>
            <a:ext cx="64008" cy="1920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Text 36"/>
          <p:cNvSpPr/>
          <p:nvPr/>
        </p:nvSpPr>
        <p:spPr>
          <a:xfrm>
            <a:off x="4828032" y="3017520"/>
            <a:ext cx="3840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ADAPTIVE RULE  —  VIX × DTE  →  Offset + Stop-Loss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4828032" y="3273552"/>
            <a:ext cx="38404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Extends the 1D rule by also conditioning the strangle offset on days-to-expiry (DTE). Each of the 30 (VIX bucket × DTE bucket) cells receives an individually optimised (offset, SL) pair derived from a top-K ensemble of the 5 highest-ranking configurations, ranked jointly by Sharpe ratio and CAGR.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4828032" y="3977640"/>
            <a:ext cx="6583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5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VIX \ DTE</a:t>
            </a:r>
            <a:endParaRPr lang="en-US" sz="650" dirty="0"/>
          </a:p>
        </p:txBody>
      </p:sp>
      <p:sp>
        <p:nvSpPr>
          <p:cNvPr id="41" name="Shape 39"/>
          <p:cNvSpPr/>
          <p:nvPr/>
        </p:nvSpPr>
        <p:spPr>
          <a:xfrm>
            <a:off x="5513832" y="3977640"/>
            <a:ext cx="530352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Text 40"/>
          <p:cNvSpPr/>
          <p:nvPr/>
        </p:nvSpPr>
        <p:spPr>
          <a:xfrm>
            <a:off x="5513832" y="397764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0dte</a:t>
            </a:r>
            <a:endParaRPr lang="en-US" sz="600" dirty="0"/>
          </a:p>
        </p:txBody>
      </p:sp>
      <p:sp>
        <p:nvSpPr>
          <p:cNvPr id="43" name="Shape 41"/>
          <p:cNvSpPr/>
          <p:nvPr/>
        </p:nvSpPr>
        <p:spPr>
          <a:xfrm>
            <a:off x="6080760" y="3977640"/>
            <a:ext cx="530352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080760" y="397764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1dte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6647688" y="3977640"/>
            <a:ext cx="530352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Text 44"/>
          <p:cNvSpPr/>
          <p:nvPr/>
        </p:nvSpPr>
        <p:spPr>
          <a:xfrm>
            <a:off x="6647688" y="397764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2dte</a:t>
            </a:r>
            <a:endParaRPr lang="en-US" sz="600" dirty="0"/>
          </a:p>
        </p:txBody>
      </p:sp>
      <p:sp>
        <p:nvSpPr>
          <p:cNvPr id="47" name="Shape 45"/>
          <p:cNvSpPr/>
          <p:nvPr/>
        </p:nvSpPr>
        <p:spPr>
          <a:xfrm>
            <a:off x="7214616" y="3977640"/>
            <a:ext cx="530352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Text 46"/>
          <p:cNvSpPr/>
          <p:nvPr/>
        </p:nvSpPr>
        <p:spPr>
          <a:xfrm>
            <a:off x="7214616" y="397764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3dte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7781544" y="3977640"/>
            <a:ext cx="530352" cy="182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Text 48"/>
          <p:cNvSpPr/>
          <p:nvPr/>
        </p:nvSpPr>
        <p:spPr>
          <a:xfrm>
            <a:off x="7781544" y="3977640"/>
            <a:ext cx="53035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4dte+</a:t>
            </a:r>
            <a:endParaRPr lang="en-US" sz="600" dirty="0"/>
          </a:p>
        </p:txBody>
      </p:sp>
      <p:sp>
        <p:nvSpPr>
          <p:cNvPr id="51" name="Shape 49"/>
          <p:cNvSpPr/>
          <p:nvPr/>
        </p:nvSpPr>
        <p:spPr>
          <a:xfrm>
            <a:off x="4828032" y="4187952"/>
            <a:ext cx="658368" cy="2011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Text 50"/>
          <p:cNvSpPr/>
          <p:nvPr/>
        </p:nvSpPr>
        <p:spPr>
          <a:xfrm>
            <a:off x="4828032" y="4187952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&lt;12</a:t>
            </a:r>
            <a:endParaRPr lang="en-US" sz="600" dirty="0"/>
          </a:p>
        </p:txBody>
      </p:sp>
      <p:sp>
        <p:nvSpPr>
          <p:cNvPr id="53" name="Shape 51"/>
          <p:cNvSpPr/>
          <p:nvPr/>
        </p:nvSpPr>
        <p:spPr>
          <a:xfrm>
            <a:off x="5513832" y="4187952"/>
            <a:ext cx="530352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5513832" y="418795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±100/30%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6080760" y="4187952"/>
            <a:ext cx="530352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Text 54"/>
          <p:cNvSpPr/>
          <p:nvPr/>
        </p:nvSpPr>
        <p:spPr>
          <a:xfrm>
            <a:off x="6080760" y="418795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±100/50%</a:t>
            </a:r>
            <a:endParaRPr lang="en-US" sz="600" dirty="0"/>
          </a:p>
        </p:txBody>
      </p:sp>
      <p:sp>
        <p:nvSpPr>
          <p:cNvPr id="57" name="Shape 55"/>
          <p:cNvSpPr/>
          <p:nvPr/>
        </p:nvSpPr>
        <p:spPr>
          <a:xfrm>
            <a:off x="6647688" y="4187952"/>
            <a:ext cx="530352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Text 56"/>
          <p:cNvSpPr/>
          <p:nvPr/>
        </p:nvSpPr>
        <p:spPr>
          <a:xfrm>
            <a:off x="6647688" y="418795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±100/25%</a:t>
            </a:r>
            <a:endParaRPr lang="en-US" sz="600" dirty="0"/>
          </a:p>
        </p:txBody>
      </p:sp>
      <p:sp>
        <p:nvSpPr>
          <p:cNvPr id="59" name="Shape 57"/>
          <p:cNvSpPr/>
          <p:nvPr/>
        </p:nvSpPr>
        <p:spPr>
          <a:xfrm>
            <a:off x="7214616" y="4187952"/>
            <a:ext cx="530352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Text 58"/>
          <p:cNvSpPr/>
          <p:nvPr/>
        </p:nvSpPr>
        <p:spPr>
          <a:xfrm>
            <a:off x="7214616" y="418795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±100/35%</a:t>
            </a:r>
            <a:endParaRPr lang="en-US" sz="600" dirty="0"/>
          </a:p>
        </p:txBody>
      </p:sp>
      <p:sp>
        <p:nvSpPr>
          <p:cNvPr id="61" name="Shape 59"/>
          <p:cNvSpPr/>
          <p:nvPr/>
        </p:nvSpPr>
        <p:spPr>
          <a:xfrm>
            <a:off x="7781544" y="4187952"/>
            <a:ext cx="530352" cy="201168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Text 60"/>
          <p:cNvSpPr/>
          <p:nvPr/>
        </p:nvSpPr>
        <p:spPr>
          <a:xfrm>
            <a:off x="7781544" y="4187952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±100/30%</a:t>
            </a:r>
            <a:endParaRPr lang="en-US" sz="600" dirty="0"/>
          </a:p>
        </p:txBody>
      </p:sp>
      <p:sp>
        <p:nvSpPr>
          <p:cNvPr id="63" name="Shape 61"/>
          <p:cNvSpPr/>
          <p:nvPr/>
        </p:nvSpPr>
        <p:spPr>
          <a:xfrm>
            <a:off x="4828032" y="4425696"/>
            <a:ext cx="658368" cy="2011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4828032" y="4425696"/>
            <a:ext cx="658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12-15</a:t>
            </a:r>
            <a:endParaRPr lang="en-US" sz="600" dirty="0"/>
          </a:p>
        </p:txBody>
      </p:sp>
      <p:sp>
        <p:nvSpPr>
          <p:cNvPr id="65" name="Shape 63"/>
          <p:cNvSpPr/>
          <p:nvPr/>
        </p:nvSpPr>
        <p:spPr>
          <a:xfrm>
            <a:off x="5513832" y="4425696"/>
            <a:ext cx="530352" cy="20116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6" name="Text 64"/>
          <p:cNvSpPr/>
          <p:nvPr/>
        </p:nvSpPr>
        <p:spPr>
          <a:xfrm>
            <a:off x="5513832" y="442569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±150/40%</a:t>
            </a:r>
            <a:endParaRPr lang="en-US" sz="600" dirty="0"/>
          </a:p>
        </p:txBody>
      </p:sp>
      <p:sp>
        <p:nvSpPr>
          <p:cNvPr id="67" name="Shape 65"/>
          <p:cNvSpPr/>
          <p:nvPr/>
        </p:nvSpPr>
        <p:spPr>
          <a:xfrm>
            <a:off x="6080760" y="4425696"/>
            <a:ext cx="530352" cy="20116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6080760" y="442569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±100/25%</a:t>
            </a:r>
            <a:endParaRPr lang="en-US" sz="600" dirty="0"/>
          </a:p>
        </p:txBody>
      </p:sp>
      <p:sp>
        <p:nvSpPr>
          <p:cNvPr id="69" name="Shape 67"/>
          <p:cNvSpPr/>
          <p:nvPr/>
        </p:nvSpPr>
        <p:spPr>
          <a:xfrm>
            <a:off x="6647688" y="4425696"/>
            <a:ext cx="530352" cy="20116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0" name="Text 68"/>
          <p:cNvSpPr/>
          <p:nvPr/>
        </p:nvSpPr>
        <p:spPr>
          <a:xfrm>
            <a:off x="6647688" y="442569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±150/40%</a:t>
            </a:r>
            <a:endParaRPr lang="en-US" sz="600" dirty="0"/>
          </a:p>
        </p:txBody>
      </p:sp>
      <p:sp>
        <p:nvSpPr>
          <p:cNvPr id="71" name="Shape 69"/>
          <p:cNvSpPr/>
          <p:nvPr/>
        </p:nvSpPr>
        <p:spPr>
          <a:xfrm>
            <a:off x="7214616" y="4425696"/>
            <a:ext cx="530352" cy="20116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7214616" y="442569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±100/40%</a:t>
            </a:r>
            <a:endParaRPr lang="en-US" sz="600" dirty="0"/>
          </a:p>
        </p:txBody>
      </p:sp>
      <p:sp>
        <p:nvSpPr>
          <p:cNvPr id="73" name="Shape 71"/>
          <p:cNvSpPr/>
          <p:nvPr/>
        </p:nvSpPr>
        <p:spPr>
          <a:xfrm>
            <a:off x="7781544" y="4425696"/>
            <a:ext cx="530352" cy="201168"/>
          </a:xfrm>
          <a:prstGeom prst="rect">
            <a:avLst/>
          </a:prstGeom>
          <a:solidFill>
            <a:srgbClr val="F1F5F9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7781544" y="4425696"/>
            <a:ext cx="530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600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±100/30%</a:t>
            </a:r>
            <a:endParaRPr lang="en-US" sz="600" dirty="0"/>
          </a:p>
        </p:txBody>
      </p:sp>
      <p:sp>
        <p:nvSpPr>
          <p:cNvPr id="75" name="Text 73"/>
          <p:cNvSpPr/>
          <p:nvPr/>
        </p:nvSpPr>
        <p:spPr>
          <a:xfrm>
            <a:off x="4828032" y="4681728"/>
            <a:ext cx="3840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 cells from the 6 × 5 rule table  (30 regime cells total)</a:t>
            </a:r>
            <a:endParaRPr lang="en-US" sz="750" dirty="0"/>
          </a:p>
        </p:txBody>
      </p:sp>
      <p:sp>
        <p:nvSpPr>
          <p:cNvPr id="78" name="Shape 10">
            <a:extLst>
              <a:ext uri="{FF2B5EF4-FFF2-40B4-BE49-F238E27FC236}">
                <a16:creationId xmlns:a16="http://schemas.microsoft.com/office/drawing/2014/main" id="{AF5B4A45-1C0F-6EE5-29D4-80F5D65096EF}"/>
              </a:ext>
            </a:extLst>
          </p:cNvPr>
          <p:cNvSpPr/>
          <p:nvPr/>
        </p:nvSpPr>
        <p:spPr>
          <a:xfrm>
            <a:off x="384048" y="3449828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0" name="Text 11">
            <a:extLst>
              <a:ext uri="{FF2B5EF4-FFF2-40B4-BE49-F238E27FC236}">
                <a16:creationId xmlns:a16="http://schemas.microsoft.com/office/drawing/2014/main" id="{193AABE3-8348-E089-AE5F-29C9F42040C1}"/>
              </a:ext>
            </a:extLst>
          </p:cNvPr>
          <p:cNvSpPr/>
          <p:nvPr/>
        </p:nvSpPr>
        <p:spPr>
          <a:xfrm>
            <a:off x="629159" y="390067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/>
              <a:t>Real word costs and slippages are included in the </a:t>
            </a:r>
            <a:r>
              <a:rPr lang="en-US" sz="1000" dirty="0" err="1"/>
              <a:t>StockMock</a:t>
            </a:r>
            <a:r>
              <a:rPr lang="en-US" sz="1000" dirty="0"/>
              <a:t> </a:t>
            </a:r>
            <a:r>
              <a:rPr lang="en-US" sz="1000" dirty="0" err="1"/>
              <a:t>backtest</a:t>
            </a:r>
            <a:endParaRPr lang="en-US" sz="1000" dirty="0"/>
          </a:p>
        </p:txBody>
      </p:sp>
      <p:sp>
        <p:nvSpPr>
          <p:cNvPr id="81" name="Shape 10">
            <a:extLst>
              <a:ext uri="{FF2B5EF4-FFF2-40B4-BE49-F238E27FC236}">
                <a16:creationId xmlns:a16="http://schemas.microsoft.com/office/drawing/2014/main" id="{9C987E1B-0B1C-842F-B9DB-6A40A45B4319}"/>
              </a:ext>
            </a:extLst>
          </p:cNvPr>
          <p:cNvSpPr/>
          <p:nvPr/>
        </p:nvSpPr>
        <p:spPr>
          <a:xfrm>
            <a:off x="382271" y="3931920"/>
            <a:ext cx="146304" cy="146304"/>
          </a:xfrm>
          <a:prstGeom prst="ellipse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2" name="Text 11">
            <a:extLst>
              <a:ext uri="{FF2B5EF4-FFF2-40B4-BE49-F238E27FC236}">
                <a16:creationId xmlns:a16="http://schemas.microsoft.com/office/drawing/2014/main" id="{FEA02A65-CC85-4C79-6EA8-C9AD42A2A026}"/>
              </a:ext>
            </a:extLst>
          </p:cNvPr>
          <p:cNvSpPr/>
          <p:nvPr/>
        </p:nvSpPr>
        <p:spPr>
          <a:xfrm>
            <a:off x="585216" y="3449828"/>
            <a:ext cx="3566160" cy="402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000" dirty="0"/>
              <a:t>Tail Risk (Black Swans) resilience accounted for in Monte-Carlo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57200" y="0"/>
            <a:ext cx="2743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b="1" kern="0" spc="3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Framework  &amp;  Performance Results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384048" y="987552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Framework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84048" y="1316736"/>
            <a:ext cx="384048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84048" y="1316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59536" y="131673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Validation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59536" y="1572768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5-fold anchored walk-forward. Rules trained on all prior data; applied unchanged to the next unseen period. Confirms out-of-sample generalisability.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384048" y="2249424"/>
            <a:ext cx="384048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84048" y="224942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59536" y="2249424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Strict Train / Test Split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859536" y="2505456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2019–2022 used exclusively for rule derivation. Strategy applied without modification to 2023–2025. Rules derived from training data only — no leakage.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384048" y="3182112"/>
            <a:ext cx="384048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84048" y="318211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59536" y="3182112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 Bootstrap Monte Carlo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59536" y="3438144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 simulations × 5 years. Trades resampled in blocks of 20 to preserve volatility regimes. Outputs: CAGR, Sharpe, and drawdown distributions.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84048" y="4114800"/>
            <a:ext cx="384048" cy="384048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84048" y="41148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59536" y="4114800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Perturbation Test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859536" y="4370832"/>
            <a:ext cx="33832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 random perturbations of ±50 points on offset and ±5% on stop-loss per regime cell. Verifies the selected parameters sit on a robust performance plateau.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389120" y="960120"/>
            <a:ext cx="0" cy="384048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663440" y="987552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Performance Results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663440" y="1316736"/>
            <a:ext cx="155448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663440" y="1316736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6236208" y="1316736"/>
            <a:ext cx="12344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236208" y="13167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Adaptive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7498080" y="1316736"/>
            <a:ext cx="1234440" cy="2743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7498080" y="1316736"/>
            <a:ext cx="1234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1D Adaptive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4663440" y="1591056"/>
            <a:ext cx="15544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4663440" y="1591056"/>
            <a:ext cx="1554480" cy="32918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(Flat)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6236208" y="1591056"/>
            <a:ext cx="123444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6236208" y="159105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19.2%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7498080" y="1591056"/>
            <a:ext cx="1325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7498080" y="159105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14.8%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663440" y="1938528"/>
            <a:ext cx="1554480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4663440" y="1938528"/>
            <a:ext cx="1554480" cy="32918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CAGR (Compounded)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236208" y="1938528"/>
            <a:ext cx="1234440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236208" y="1938528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39.7%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7498080" y="1938528"/>
            <a:ext cx="1325880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7498080" y="1938528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28.3%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4663440" y="2286000"/>
            <a:ext cx="15544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4663440" y="2286000"/>
            <a:ext cx="1554480" cy="32918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Sharpe Ratio (Flat)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36208" y="2286000"/>
            <a:ext cx="123444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6236208" y="2286000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2.78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7498080" y="2286000"/>
            <a:ext cx="1325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7498080" y="2286000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1.99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663440" y="2633472"/>
            <a:ext cx="1554480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663440" y="2633472"/>
            <a:ext cx="1554480" cy="32918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Calmar Ratio (Flat)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6236208" y="2633472"/>
            <a:ext cx="1234440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6236208" y="2633472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2.98×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7498080" y="2633472"/>
            <a:ext cx="1325880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7498080" y="2633472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2.11×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4663440" y="2980944"/>
            <a:ext cx="15544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663440" y="2980944"/>
            <a:ext cx="1554480" cy="32918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Drawdown (Flat)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236208" y="2980944"/>
            <a:ext cx="123444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6236208" y="2980944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−6.5%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7498080" y="2980944"/>
            <a:ext cx="1325880" cy="329184"/>
          </a:xfrm>
          <a:prstGeom prst="rect">
            <a:avLst/>
          </a:prstGeom>
          <a:solidFill>
            <a:srgbClr val="FFFFFF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7498080" y="2980944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−7.0%</a:t>
            </a:r>
            <a:endParaRPr lang="en-US" sz="950" dirty="0"/>
          </a:p>
        </p:txBody>
      </p:sp>
      <p:sp>
        <p:nvSpPr>
          <p:cNvPr id="60" name="Shape 58"/>
          <p:cNvSpPr/>
          <p:nvPr/>
        </p:nvSpPr>
        <p:spPr>
          <a:xfrm>
            <a:off x="4663440" y="3328416"/>
            <a:ext cx="1554480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4663440" y="3328416"/>
            <a:ext cx="1554480" cy="329184"/>
          </a:xfrm>
          <a:prstGeom prst="rect">
            <a:avLst/>
          </a:prstGeom>
          <a:noFill/>
          <a:ln/>
        </p:spPr>
        <p:txBody>
          <a:bodyPr wrap="square" lIns="0" tIns="76200" rIns="0" bIns="0" rtlCol="0" anchor="ctr"/>
          <a:lstStyle/>
          <a:p>
            <a:pPr marL="0" indent="0" algn="l">
              <a:buNone/>
            </a:pPr>
            <a:r>
              <a:rPr lang="en-US" sz="9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 Rate</a:t>
            </a:r>
            <a:endParaRPr lang="en-US" sz="950" dirty="0"/>
          </a:p>
        </p:txBody>
      </p:sp>
      <p:sp>
        <p:nvSpPr>
          <p:cNvPr id="62" name="Shape 60"/>
          <p:cNvSpPr/>
          <p:nvPr/>
        </p:nvSpPr>
        <p:spPr>
          <a:xfrm>
            <a:off x="6236208" y="3328416"/>
            <a:ext cx="1234440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6236208" y="3328416"/>
            <a:ext cx="1234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67%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7498080" y="3328416"/>
            <a:ext cx="1325880" cy="329184"/>
          </a:xfrm>
          <a:prstGeom prst="rect">
            <a:avLst/>
          </a:prstGeom>
          <a:solidFill>
            <a:srgbClr val="F8FAFC"/>
          </a:solidFill>
          <a:ln w="381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7498080" y="3328416"/>
            <a:ext cx="1325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64%</a:t>
            </a:r>
            <a:endParaRPr lang="en-US" sz="950" dirty="0"/>
          </a:p>
        </p:txBody>
      </p:sp>
      <p:sp>
        <p:nvSpPr>
          <p:cNvPr id="66" name="Text 64"/>
          <p:cNvSpPr/>
          <p:nvPr/>
        </p:nvSpPr>
        <p:spPr>
          <a:xfrm>
            <a:off x="4663440" y="3767328"/>
            <a:ext cx="41605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5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figures sourced from StockMock with realistic execution costs. CAGR and Sharpe are computed over a 7-year period (2019–2025).</a:t>
            </a:r>
            <a:endParaRPr lang="en-US" sz="750" dirty="0"/>
          </a:p>
        </p:txBody>
      </p:sp>
      <p:sp>
        <p:nvSpPr>
          <p:cNvPr id="67" name="Shape 65"/>
          <p:cNvSpPr/>
          <p:nvPr/>
        </p:nvSpPr>
        <p:spPr>
          <a:xfrm>
            <a:off x="4663440" y="4187952"/>
            <a:ext cx="4160520" cy="804672"/>
          </a:xfrm>
          <a:prstGeom prst="rect">
            <a:avLst/>
          </a:prstGeom>
          <a:solidFill>
            <a:srgbClr val="EFF6FF"/>
          </a:solidFill>
          <a:ln w="1016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4773168" y="424281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Out-of-Sample Validation</a:t>
            </a:r>
            <a:endParaRPr lang="en-US" sz="900" dirty="0"/>
          </a:p>
        </p:txBody>
      </p:sp>
      <p:sp>
        <p:nvSpPr>
          <p:cNvPr id="69" name="Text 67"/>
          <p:cNvSpPr/>
          <p:nvPr/>
        </p:nvSpPr>
        <p:spPr>
          <a:xfrm>
            <a:off x="4773168" y="4443984"/>
            <a:ext cx="393192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Walk-forward OOS Sharpe remained positive across all 5 folds. Strict train/test split (2023–2025 unseen data) confirmed the adaptive edge is not attributable to in-sample overfitting. Monte Carlo 5th-percentile 5-year CAGR exceeds the 1D baseline median.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4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8288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82880" y="1005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Shape 2"/>
          <p:cNvSpPr/>
          <p:nvPr/>
        </p:nvSpPr>
        <p:spPr>
          <a:xfrm>
            <a:off x="182880" y="1920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182880" y="28346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182880" y="37490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Shape 5"/>
          <p:cNvSpPr/>
          <p:nvPr/>
        </p:nvSpPr>
        <p:spPr>
          <a:xfrm>
            <a:off x="182880" y="4663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" name="Shape 6"/>
          <p:cNvSpPr/>
          <p:nvPr/>
        </p:nvSpPr>
        <p:spPr>
          <a:xfrm>
            <a:off x="109728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1097280" y="1005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1097280" y="1920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Shape 9"/>
          <p:cNvSpPr/>
          <p:nvPr/>
        </p:nvSpPr>
        <p:spPr>
          <a:xfrm>
            <a:off x="1097280" y="28346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Shape 10"/>
          <p:cNvSpPr/>
          <p:nvPr/>
        </p:nvSpPr>
        <p:spPr>
          <a:xfrm>
            <a:off x="1097280" y="37490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1097280" y="4663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01168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011680" y="1005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Shape 14"/>
          <p:cNvSpPr/>
          <p:nvPr/>
        </p:nvSpPr>
        <p:spPr>
          <a:xfrm>
            <a:off x="2011680" y="1920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2011680" y="28346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011680" y="37490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Shape 17"/>
          <p:cNvSpPr/>
          <p:nvPr/>
        </p:nvSpPr>
        <p:spPr>
          <a:xfrm>
            <a:off x="2011680" y="4663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292608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Shape 19"/>
          <p:cNvSpPr/>
          <p:nvPr/>
        </p:nvSpPr>
        <p:spPr>
          <a:xfrm>
            <a:off x="2926080" y="1005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2926080" y="1920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2926080" y="28346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Shape 22"/>
          <p:cNvSpPr/>
          <p:nvPr/>
        </p:nvSpPr>
        <p:spPr>
          <a:xfrm>
            <a:off x="2926080" y="37490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Shape 23"/>
          <p:cNvSpPr/>
          <p:nvPr/>
        </p:nvSpPr>
        <p:spPr>
          <a:xfrm>
            <a:off x="2926080" y="4663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6" name="Shape 24"/>
          <p:cNvSpPr/>
          <p:nvPr/>
        </p:nvSpPr>
        <p:spPr>
          <a:xfrm>
            <a:off x="384048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Shape 25"/>
          <p:cNvSpPr/>
          <p:nvPr/>
        </p:nvSpPr>
        <p:spPr>
          <a:xfrm>
            <a:off x="3840480" y="1005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840480" y="1920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Shape 27"/>
          <p:cNvSpPr/>
          <p:nvPr/>
        </p:nvSpPr>
        <p:spPr>
          <a:xfrm>
            <a:off x="3840480" y="28346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0" name="Shape 28"/>
          <p:cNvSpPr/>
          <p:nvPr/>
        </p:nvSpPr>
        <p:spPr>
          <a:xfrm>
            <a:off x="3840480" y="37490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Shape 29"/>
          <p:cNvSpPr/>
          <p:nvPr/>
        </p:nvSpPr>
        <p:spPr>
          <a:xfrm>
            <a:off x="3840480" y="4663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2" name="Shape 30"/>
          <p:cNvSpPr/>
          <p:nvPr/>
        </p:nvSpPr>
        <p:spPr>
          <a:xfrm>
            <a:off x="475488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Shape 31"/>
          <p:cNvSpPr/>
          <p:nvPr/>
        </p:nvSpPr>
        <p:spPr>
          <a:xfrm>
            <a:off x="4754880" y="1005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Shape 32"/>
          <p:cNvSpPr/>
          <p:nvPr/>
        </p:nvSpPr>
        <p:spPr>
          <a:xfrm>
            <a:off x="4754880" y="1920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Shape 33"/>
          <p:cNvSpPr/>
          <p:nvPr/>
        </p:nvSpPr>
        <p:spPr>
          <a:xfrm>
            <a:off x="4754880" y="28346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6" name="Shape 34"/>
          <p:cNvSpPr/>
          <p:nvPr/>
        </p:nvSpPr>
        <p:spPr>
          <a:xfrm>
            <a:off x="4754880" y="37490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Shape 35"/>
          <p:cNvSpPr/>
          <p:nvPr/>
        </p:nvSpPr>
        <p:spPr>
          <a:xfrm>
            <a:off x="4754880" y="4663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8" name="Shape 36"/>
          <p:cNvSpPr/>
          <p:nvPr/>
        </p:nvSpPr>
        <p:spPr>
          <a:xfrm>
            <a:off x="566928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Shape 37"/>
          <p:cNvSpPr/>
          <p:nvPr/>
        </p:nvSpPr>
        <p:spPr>
          <a:xfrm>
            <a:off x="5669280" y="1005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0" name="Shape 38"/>
          <p:cNvSpPr/>
          <p:nvPr/>
        </p:nvSpPr>
        <p:spPr>
          <a:xfrm>
            <a:off x="5669280" y="1920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Shape 39"/>
          <p:cNvSpPr/>
          <p:nvPr/>
        </p:nvSpPr>
        <p:spPr>
          <a:xfrm>
            <a:off x="5669280" y="28346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2" name="Shape 40"/>
          <p:cNvSpPr/>
          <p:nvPr/>
        </p:nvSpPr>
        <p:spPr>
          <a:xfrm>
            <a:off x="5669280" y="37490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Shape 41"/>
          <p:cNvSpPr/>
          <p:nvPr/>
        </p:nvSpPr>
        <p:spPr>
          <a:xfrm>
            <a:off x="5669280" y="4663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Shape 42"/>
          <p:cNvSpPr/>
          <p:nvPr/>
        </p:nvSpPr>
        <p:spPr>
          <a:xfrm>
            <a:off x="658368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Shape 43"/>
          <p:cNvSpPr/>
          <p:nvPr/>
        </p:nvSpPr>
        <p:spPr>
          <a:xfrm>
            <a:off x="6583680" y="1005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6" name="Shape 44"/>
          <p:cNvSpPr/>
          <p:nvPr/>
        </p:nvSpPr>
        <p:spPr>
          <a:xfrm>
            <a:off x="6583680" y="1920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Shape 45"/>
          <p:cNvSpPr/>
          <p:nvPr/>
        </p:nvSpPr>
        <p:spPr>
          <a:xfrm>
            <a:off x="6583680" y="28346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6583680" y="37490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Shape 47"/>
          <p:cNvSpPr/>
          <p:nvPr/>
        </p:nvSpPr>
        <p:spPr>
          <a:xfrm>
            <a:off x="6583680" y="4663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0" name="Shape 48"/>
          <p:cNvSpPr/>
          <p:nvPr/>
        </p:nvSpPr>
        <p:spPr>
          <a:xfrm>
            <a:off x="749808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Shape 49"/>
          <p:cNvSpPr/>
          <p:nvPr/>
        </p:nvSpPr>
        <p:spPr>
          <a:xfrm>
            <a:off x="7498080" y="1005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2" name="Shape 50"/>
          <p:cNvSpPr/>
          <p:nvPr/>
        </p:nvSpPr>
        <p:spPr>
          <a:xfrm>
            <a:off x="7498080" y="1920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Shape 51"/>
          <p:cNvSpPr/>
          <p:nvPr/>
        </p:nvSpPr>
        <p:spPr>
          <a:xfrm>
            <a:off x="7498080" y="28346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Shape 52"/>
          <p:cNvSpPr/>
          <p:nvPr/>
        </p:nvSpPr>
        <p:spPr>
          <a:xfrm>
            <a:off x="7498080" y="37490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Shape 53"/>
          <p:cNvSpPr/>
          <p:nvPr/>
        </p:nvSpPr>
        <p:spPr>
          <a:xfrm>
            <a:off x="7498080" y="4663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6" name="Shape 54"/>
          <p:cNvSpPr/>
          <p:nvPr/>
        </p:nvSpPr>
        <p:spPr>
          <a:xfrm>
            <a:off x="8412480" y="91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Shape 55"/>
          <p:cNvSpPr/>
          <p:nvPr/>
        </p:nvSpPr>
        <p:spPr>
          <a:xfrm>
            <a:off x="8412480" y="10058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8412480" y="19202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Shape 57"/>
          <p:cNvSpPr/>
          <p:nvPr/>
        </p:nvSpPr>
        <p:spPr>
          <a:xfrm>
            <a:off x="8412480" y="28346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0" name="Shape 58"/>
          <p:cNvSpPr/>
          <p:nvPr/>
        </p:nvSpPr>
        <p:spPr>
          <a:xfrm>
            <a:off x="8412480" y="37490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Shape 59"/>
          <p:cNvSpPr/>
          <p:nvPr/>
        </p:nvSpPr>
        <p:spPr>
          <a:xfrm>
            <a:off x="8412480" y="4663440"/>
            <a:ext cx="36576" cy="36576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2" name="Shape 60"/>
          <p:cNvSpPr/>
          <p:nvPr/>
        </p:nvSpPr>
        <p:spPr>
          <a:xfrm>
            <a:off x="0" y="0"/>
            <a:ext cx="182880" cy="51435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457200" y="12801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kern="0" spc="500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SECTION 02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457200" y="1691640"/>
            <a:ext cx="64008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</a:t>
            </a:r>
            <a:endParaRPr lang="en-US" sz="5400" dirty="0"/>
          </a:p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&amp; Returns</a:t>
            </a:r>
            <a:endParaRPr lang="en-US" sz="5400" dirty="0"/>
          </a:p>
        </p:txBody>
      </p:sp>
      <p:sp>
        <p:nvSpPr>
          <p:cNvPr id="65" name="Text 63"/>
          <p:cNvSpPr/>
          <p:nvPr/>
        </p:nvSpPr>
        <p:spPr>
          <a:xfrm>
            <a:off x="457200" y="35204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8B9D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7-Year Backtest  ·  2019 – 2026  ·  2D vs 1D Adaptive</a:t>
            </a:r>
            <a:endParaRPr lang="en-US" sz="1400" dirty="0"/>
          </a:p>
        </p:txBody>
      </p:sp>
      <p:sp>
        <p:nvSpPr>
          <p:cNvPr id="66" name="Shape 64"/>
          <p:cNvSpPr/>
          <p:nvPr/>
        </p:nvSpPr>
        <p:spPr>
          <a:xfrm>
            <a:off x="6675120" y="822960"/>
            <a:ext cx="2286000" cy="1097280"/>
          </a:xfrm>
          <a:prstGeom prst="rect">
            <a:avLst/>
          </a:prstGeom>
          <a:solidFill>
            <a:srgbClr val="1E2A48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Shape 65"/>
          <p:cNvSpPr/>
          <p:nvPr/>
        </p:nvSpPr>
        <p:spPr>
          <a:xfrm>
            <a:off x="6675120" y="822960"/>
            <a:ext cx="2286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Text 66"/>
          <p:cNvSpPr/>
          <p:nvPr/>
        </p:nvSpPr>
        <p:spPr>
          <a:xfrm>
            <a:off x="6766560" y="9144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39.7%</a:t>
            </a:r>
            <a:endParaRPr lang="en-US" sz="3000" dirty="0"/>
          </a:p>
        </p:txBody>
      </p:sp>
      <p:sp>
        <p:nvSpPr>
          <p:cNvPr id="69" name="Text 67"/>
          <p:cNvSpPr/>
          <p:nvPr/>
        </p:nvSpPr>
        <p:spPr>
          <a:xfrm>
            <a:off x="6766560" y="148132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D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CAGR  (Compounding)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6675120" y="2194560"/>
            <a:ext cx="2286000" cy="1097280"/>
          </a:xfrm>
          <a:prstGeom prst="rect">
            <a:avLst/>
          </a:prstGeom>
          <a:solidFill>
            <a:srgbClr val="1E2A48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Shape 69"/>
          <p:cNvSpPr/>
          <p:nvPr/>
        </p:nvSpPr>
        <p:spPr>
          <a:xfrm>
            <a:off x="6675120" y="2194560"/>
            <a:ext cx="2286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2" name="Text 70"/>
          <p:cNvSpPr/>
          <p:nvPr/>
        </p:nvSpPr>
        <p:spPr>
          <a:xfrm>
            <a:off x="6766560" y="22860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2.13</a:t>
            </a:r>
            <a:endParaRPr lang="en-US" sz="3000" dirty="0"/>
          </a:p>
        </p:txBody>
      </p:sp>
      <p:sp>
        <p:nvSpPr>
          <p:cNvPr id="73" name="Text 71"/>
          <p:cNvSpPr/>
          <p:nvPr/>
        </p:nvSpPr>
        <p:spPr>
          <a:xfrm>
            <a:off x="6766560" y="285292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D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Sharpe Ratio 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6675120" y="3566160"/>
            <a:ext cx="2286000" cy="1097280"/>
          </a:xfrm>
          <a:prstGeom prst="rect">
            <a:avLst/>
          </a:prstGeom>
          <a:solidFill>
            <a:srgbClr val="1E2A48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Shape 73"/>
          <p:cNvSpPr/>
          <p:nvPr/>
        </p:nvSpPr>
        <p:spPr>
          <a:xfrm>
            <a:off x="6675120" y="3566160"/>
            <a:ext cx="228600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6" name="Text 74"/>
          <p:cNvSpPr/>
          <p:nvPr/>
        </p:nvSpPr>
        <p:spPr>
          <a:xfrm>
            <a:off x="6766560" y="3657600"/>
            <a:ext cx="2103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2.98×</a:t>
            </a:r>
            <a:endParaRPr lang="en-US" sz="3000" dirty="0"/>
          </a:p>
        </p:txBody>
      </p:sp>
      <p:sp>
        <p:nvSpPr>
          <p:cNvPr id="77" name="Text 75"/>
          <p:cNvSpPr/>
          <p:nvPr/>
        </p:nvSpPr>
        <p:spPr>
          <a:xfrm>
            <a:off x="6766560" y="4224528"/>
            <a:ext cx="2103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B9D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Calmar Ratio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&amp; RETURNS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Strategy Comparison  —  2D vs 1D Adaptive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87552"/>
            <a:ext cx="1920240" cy="1005840"/>
          </a:xfrm>
          <a:prstGeom prst="rect">
            <a:avLst/>
          </a:prstGeom>
          <a:solidFill>
            <a:srgbClr val="0D1420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987552"/>
            <a:ext cx="19202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0241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19.2%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411480" y="14813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D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CAGR (Flat)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11480" y="16824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16.2% (1D)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2468880" y="987552"/>
            <a:ext cx="1920240" cy="1005840"/>
          </a:xfrm>
          <a:prstGeom prst="rect">
            <a:avLst/>
          </a:prstGeom>
          <a:solidFill>
            <a:srgbClr val="0D1420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468880" y="987552"/>
            <a:ext cx="19202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514600" y="10241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2.78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514600" y="14813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D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Sharpe (Flat)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514600" y="16824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1.99 (1D)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572000" y="987552"/>
            <a:ext cx="1920240" cy="1005840"/>
          </a:xfrm>
          <a:prstGeom prst="rect">
            <a:avLst/>
          </a:prstGeom>
          <a:solidFill>
            <a:srgbClr val="0D1420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572000" y="987552"/>
            <a:ext cx="19202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617720" y="10241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2.98×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4617720" y="14813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D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Calmar (Flat)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617720" y="16824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2.04× (1D)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6675120" y="987552"/>
            <a:ext cx="1920240" cy="1005840"/>
          </a:xfrm>
          <a:prstGeom prst="rect">
            <a:avLst/>
          </a:prstGeom>
          <a:solidFill>
            <a:srgbClr val="0D1420"/>
          </a:solidFill>
          <a:ln w="9525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675120" y="987552"/>
            <a:ext cx="1920240" cy="5486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720840" y="1024128"/>
            <a:ext cx="1828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67%</a:t>
            </a:r>
            <a:endParaRPr lang="en-US" sz="2400" dirty="0"/>
          </a:p>
        </p:txBody>
      </p:sp>
      <p:sp>
        <p:nvSpPr>
          <p:cNvPr id="22" name="Text 20"/>
          <p:cNvSpPr/>
          <p:nvPr/>
        </p:nvSpPr>
        <p:spPr>
          <a:xfrm>
            <a:off x="6720840" y="1481328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9D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 Rate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720840" y="1682496"/>
            <a:ext cx="1828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i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vs 64% (1D)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365760" y="2103120"/>
            <a:ext cx="1920240" cy="320040"/>
          </a:xfrm>
          <a:prstGeom prst="rect">
            <a:avLst/>
          </a:prstGeom>
          <a:solidFill>
            <a:srgbClr val="0D1420"/>
          </a:solidFill>
          <a:ln w="12700">
            <a:solidFill>
              <a:srgbClr val="0D14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411480" y="2103120"/>
            <a:ext cx="18288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Metric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286000" y="2103120"/>
            <a:ext cx="1691640" cy="320040"/>
          </a:xfrm>
          <a:prstGeom prst="rect">
            <a:avLst/>
          </a:prstGeom>
          <a:solidFill>
            <a:srgbClr val="0D1420"/>
          </a:solidFill>
          <a:ln w="12700">
            <a:solidFill>
              <a:srgbClr val="0D14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2331720" y="2103120"/>
            <a:ext cx="16002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2D Adaptive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977640" y="2103120"/>
            <a:ext cx="1691640" cy="320040"/>
          </a:xfrm>
          <a:prstGeom prst="rect">
            <a:avLst/>
          </a:prstGeom>
          <a:solidFill>
            <a:srgbClr val="0D1420"/>
          </a:solidFill>
          <a:ln w="12700">
            <a:solidFill>
              <a:srgbClr val="0D14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4023360" y="2103120"/>
            <a:ext cx="160020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1D Adaptive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5669280" y="2103120"/>
            <a:ext cx="1554480" cy="320040"/>
          </a:xfrm>
          <a:prstGeom prst="rect">
            <a:avLst/>
          </a:prstGeom>
          <a:solidFill>
            <a:srgbClr val="0D1420"/>
          </a:solidFill>
          <a:ln w="12700">
            <a:solidFill>
              <a:srgbClr val="0D14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5715000" y="2103120"/>
            <a:ext cx="14630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2D Edge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7223760" y="2103120"/>
            <a:ext cx="1554480" cy="320040"/>
          </a:xfrm>
          <a:prstGeom prst="rect">
            <a:avLst/>
          </a:prstGeom>
          <a:solidFill>
            <a:srgbClr val="0D1420"/>
          </a:solidFill>
          <a:ln w="12700">
            <a:solidFill>
              <a:srgbClr val="0D14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7269480" y="2103120"/>
            <a:ext cx="1463040" cy="3200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Period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365760" y="2423160"/>
            <a:ext cx="1920240" cy="288036"/>
          </a:xfrm>
          <a:prstGeom prst="rect">
            <a:avLst/>
          </a:prstGeom>
          <a:solidFill>
            <a:srgbClr val="FFFFFF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411480" y="2423160"/>
            <a:ext cx="182880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CAGR (Flat Lot)</a:t>
            </a:r>
            <a:endParaRPr lang="en-US" sz="1000" dirty="0"/>
          </a:p>
        </p:txBody>
      </p:sp>
      <p:sp>
        <p:nvSpPr>
          <p:cNvPr id="36" name="Shape 34"/>
          <p:cNvSpPr/>
          <p:nvPr/>
        </p:nvSpPr>
        <p:spPr>
          <a:xfrm>
            <a:off x="2286000" y="2423160"/>
            <a:ext cx="1691640" cy="288036"/>
          </a:xfrm>
          <a:prstGeom prst="rect">
            <a:avLst/>
          </a:prstGeom>
          <a:solidFill>
            <a:srgbClr val="FFFFFF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2331720" y="2423160"/>
            <a:ext cx="160020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19.2%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3977640" y="2423160"/>
            <a:ext cx="1691640" cy="288036"/>
          </a:xfrm>
          <a:prstGeom prst="rect">
            <a:avLst/>
          </a:prstGeom>
          <a:solidFill>
            <a:srgbClr val="FFFFFF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4023360" y="2423160"/>
            <a:ext cx="160020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16.2%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5669280" y="2423160"/>
            <a:ext cx="1554480" cy="288036"/>
          </a:xfrm>
          <a:prstGeom prst="rect">
            <a:avLst/>
          </a:prstGeom>
          <a:solidFill>
            <a:srgbClr val="FFFFFF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5715000" y="2423160"/>
            <a:ext cx="146304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+3.0 pp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7223760" y="2423160"/>
            <a:ext cx="1554480" cy="288036"/>
          </a:xfrm>
          <a:prstGeom prst="rect">
            <a:avLst/>
          </a:prstGeom>
          <a:solidFill>
            <a:srgbClr val="FFFFFF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7269480" y="2423160"/>
            <a:ext cx="146304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yrs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65760" y="2720340"/>
            <a:ext cx="1920240" cy="288036"/>
          </a:xfrm>
          <a:prstGeom prst="rect">
            <a:avLst/>
          </a:prstGeom>
          <a:solidFill>
            <a:srgbClr val="F3F5FA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411480" y="2720340"/>
            <a:ext cx="182880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CAGR (Compounded)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2286000" y="2720340"/>
            <a:ext cx="1691640" cy="288036"/>
          </a:xfrm>
          <a:prstGeom prst="rect">
            <a:avLst/>
          </a:prstGeom>
          <a:solidFill>
            <a:srgbClr val="F3F5FA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2331720" y="2720340"/>
            <a:ext cx="160020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39.7%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3977640" y="2720340"/>
            <a:ext cx="1691640" cy="288036"/>
          </a:xfrm>
          <a:prstGeom prst="rect">
            <a:avLst/>
          </a:prstGeom>
          <a:solidFill>
            <a:srgbClr val="F3F5FA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4023360" y="2720340"/>
            <a:ext cx="160020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28.7%</a:t>
            </a:r>
            <a:endParaRPr lang="en-US" sz="1000" dirty="0"/>
          </a:p>
        </p:txBody>
      </p:sp>
      <p:sp>
        <p:nvSpPr>
          <p:cNvPr id="50" name="Shape 48"/>
          <p:cNvSpPr/>
          <p:nvPr/>
        </p:nvSpPr>
        <p:spPr>
          <a:xfrm>
            <a:off x="5669280" y="2720340"/>
            <a:ext cx="1554480" cy="288036"/>
          </a:xfrm>
          <a:prstGeom prst="rect">
            <a:avLst/>
          </a:prstGeom>
          <a:solidFill>
            <a:srgbClr val="F3F5FA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5715000" y="2720340"/>
            <a:ext cx="146304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+11.0 pp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7223760" y="2720340"/>
            <a:ext cx="1554480" cy="288036"/>
          </a:xfrm>
          <a:prstGeom prst="rect">
            <a:avLst/>
          </a:prstGeom>
          <a:solidFill>
            <a:srgbClr val="F3F5FA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7269480" y="2720340"/>
            <a:ext cx="146304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yrs</a:t>
            </a:r>
            <a:endParaRPr lang="en-US" sz="1000" dirty="0"/>
          </a:p>
        </p:txBody>
      </p:sp>
      <p:sp>
        <p:nvSpPr>
          <p:cNvPr id="54" name="Shape 52"/>
          <p:cNvSpPr/>
          <p:nvPr/>
        </p:nvSpPr>
        <p:spPr>
          <a:xfrm>
            <a:off x="365760" y="3017520"/>
            <a:ext cx="1920240" cy="288036"/>
          </a:xfrm>
          <a:prstGeom prst="rect">
            <a:avLst/>
          </a:prstGeom>
          <a:solidFill>
            <a:srgbClr val="FFFFFF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411480" y="3017520"/>
            <a:ext cx="182880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Sharpe (Flat)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2286000" y="3017520"/>
            <a:ext cx="1691640" cy="288036"/>
          </a:xfrm>
          <a:prstGeom prst="rect">
            <a:avLst/>
          </a:prstGeom>
          <a:solidFill>
            <a:srgbClr val="FFFFFF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2331720" y="3017520"/>
            <a:ext cx="160020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2.78</a:t>
            </a:r>
            <a:endParaRPr lang="en-US" sz="1000" dirty="0"/>
          </a:p>
        </p:txBody>
      </p:sp>
      <p:sp>
        <p:nvSpPr>
          <p:cNvPr id="58" name="Shape 56"/>
          <p:cNvSpPr/>
          <p:nvPr/>
        </p:nvSpPr>
        <p:spPr>
          <a:xfrm>
            <a:off x="3977640" y="3017520"/>
            <a:ext cx="1691640" cy="288036"/>
          </a:xfrm>
          <a:prstGeom prst="rect">
            <a:avLst/>
          </a:prstGeom>
          <a:solidFill>
            <a:srgbClr val="FFFFFF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4023360" y="3017520"/>
            <a:ext cx="160020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1.99</a:t>
            </a:r>
            <a:endParaRPr lang="en-US" sz="1000" dirty="0"/>
          </a:p>
        </p:txBody>
      </p:sp>
      <p:sp>
        <p:nvSpPr>
          <p:cNvPr id="60" name="Shape 58"/>
          <p:cNvSpPr/>
          <p:nvPr/>
        </p:nvSpPr>
        <p:spPr>
          <a:xfrm>
            <a:off x="5669280" y="3017520"/>
            <a:ext cx="1554480" cy="288036"/>
          </a:xfrm>
          <a:prstGeom prst="rect">
            <a:avLst/>
          </a:prstGeom>
          <a:solidFill>
            <a:srgbClr val="FFFFFF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1" name="Text 59"/>
          <p:cNvSpPr/>
          <p:nvPr/>
        </p:nvSpPr>
        <p:spPr>
          <a:xfrm>
            <a:off x="5715000" y="3017520"/>
            <a:ext cx="146304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+0.79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7223760" y="3017520"/>
            <a:ext cx="1554480" cy="288036"/>
          </a:xfrm>
          <a:prstGeom prst="rect">
            <a:avLst/>
          </a:prstGeom>
          <a:solidFill>
            <a:srgbClr val="FFFFFF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3" name="Text 61"/>
          <p:cNvSpPr/>
          <p:nvPr/>
        </p:nvSpPr>
        <p:spPr>
          <a:xfrm>
            <a:off x="7269480" y="3017520"/>
            <a:ext cx="146304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yrs</a:t>
            </a:r>
            <a:endParaRPr lang="en-US" sz="1000" dirty="0"/>
          </a:p>
        </p:txBody>
      </p:sp>
      <p:sp>
        <p:nvSpPr>
          <p:cNvPr id="64" name="Shape 62"/>
          <p:cNvSpPr/>
          <p:nvPr/>
        </p:nvSpPr>
        <p:spPr>
          <a:xfrm>
            <a:off x="365760" y="3314700"/>
            <a:ext cx="1920240" cy="288036"/>
          </a:xfrm>
          <a:prstGeom prst="rect">
            <a:avLst/>
          </a:prstGeom>
          <a:solidFill>
            <a:srgbClr val="F3F5FA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5" name="Text 63"/>
          <p:cNvSpPr/>
          <p:nvPr/>
        </p:nvSpPr>
        <p:spPr>
          <a:xfrm>
            <a:off x="411480" y="3314700"/>
            <a:ext cx="182880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Calmar (Flat)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2286000" y="3314700"/>
            <a:ext cx="1691640" cy="288036"/>
          </a:xfrm>
          <a:prstGeom prst="rect">
            <a:avLst/>
          </a:prstGeom>
          <a:solidFill>
            <a:srgbClr val="F3F5FA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7" name="Text 65"/>
          <p:cNvSpPr/>
          <p:nvPr/>
        </p:nvSpPr>
        <p:spPr>
          <a:xfrm>
            <a:off x="2331720" y="3314700"/>
            <a:ext cx="160020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2.98×</a:t>
            </a:r>
            <a:endParaRPr lang="en-US" sz="1000" dirty="0"/>
          </a:p>
        </p:txBody>
      </p:sp>
      <p:sp>
        <p:nvSpPr>
          <p:cNvPr id="68" name="Shape 66"/>
          <p:cNvSpPr/>
          <p:nvPr/>
        </p:nvSpPr>
        <p:spPr>
          <a:xfrm>
            <a:off x="3977640" y="3314700"/>
            <a:ext cx="1691640" cy="288036"/>
          </a:xfrm>
          <a:prstGeom prst="rect">
            <a:avLst/>
          </a:prstGeom>
          <a:solidFill>
            <a:srgbClr val="F3F5FA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4023360" y="3314700"/>
            <a:ext cx="160020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2.04×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5669280" y="3314700"/>
            <a:ext cx="1554480" cy="288036"/>
          </a:xfrm>
          <a:prstGeom prst="rect">
            <a:avLst/>
          </a:prstGeom>
          <a:solidFill>
            <a:srgbClr val="F3F5FA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1" name="Text 69"/>
          <p:cNvSpPr/>
          <p:nvPr/>
        </p:nvSpPr>
        <p:spPr>
          <a:xfrm>
            <a:off x="5715000" y="3314700"/>
            <a:ext cx="146304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+0.94×</a:t>
            </a:r>
            <a:endParaRPr lang="en-US" sz="1000" dirty="0"/>
          </a:p>
        </p:txBody>
      </p:sp>
      <p:sp>
        <p:nvSpPr>
          <p:cNvPr id="72" name="Shape 70"/>
          <p:cNvSpPr/>
          <p:nvPr/>
        </p:nvSpPr>
        <p:spPr>
          <a:xfrm>
            <a:off x="7223760" y="3314700"/>
            <a:ext cx="1554480" cy="288036"/>
          </a:xfrm>
          <a:prstGeom prst="rect">
            <a:avLst/>
          </a:prstGeom>
          <a:solidFill>
            <a:srgbClr val="F3F5FA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3" name="Text 71"/>
          <p:cNvSpPr/>
          <p:nvPr/>
        </p:nvSpPr>
        <p:spPr>
          <a:xfrm>
            <a:off x="7269480" y="3314700"/>
            <a:ext cx="146304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yrs</a:t>
            </a:r>
            <a:endParaRPr lang="en-US" sz="1000" dirty="0"/>
          </a:p>
        </p:txBody>
      </p:sp>
      <p:sp>
        <p:nvSpPr>
          <p:cNvPr id="74" name="Shape 72"/>
          <p:cNvSpPr/>
          <p:nvPr/>
        </p:nvSpPr>
        <p:spPr>
          <a:xfrm>
            <a:off x="365760" y="3611880"/>
            <a:ext cx="1920240" cy="288036"/>
          </a:xfrm>
          <a:prstGeom prst="rect">
            <a:avLst/>
          </a:prstGeom>
          <a:solidFill>
            <a:srgbClr val="FFFFFF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5" name="Text 73"/>
          <p:cNvSpPr/>
          <p:nvPr/>
        </p:nvSpPr>
        <p:spPr>
          <a:xfrm>
            <a:off x="411480" y="3611880"/>
            <a:ext cx="182880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 DD (Flat)</a:t>
            </a:r>
            <a:endParaRPr lang="en-US" sz="1000" dirty="0"/>
          </a:p>
        </p:txBody>
      </p:sp>
      <p:sp>
        <p:nvSpPr>
          <p:cNvPr id="76" name="Shape 74"/>
          <p:cNvSpPr/>
          <p:nvPr/>
        </p:nvSpPr>
        <p:spPr>
          <a:xfrm>
            <a:off x="2286000" y="3611880"/>
            <a:ext cx="1691640" cy="288036"/>
          </a:xfrm>
          <a:prstGeom prst="rect">
            <a:avLst/>
          </a:prstGeom>
          <a:solidFill>
            <a:srgbClr val="FFFFFF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7" name="Text 75"/>
          <p:cNvSpPr/>
          <p:nvPr/>
        </p:nvSpPr>
        <p:spPr>
          <a:xfrm>
            <a:off x="2331720" y="3611880"/>
            <a:ext cx="160020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-6.5%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3977640" y="3611880"/>
            <a:ext cx="1691640" cy="288036"/>
          </a:xfrm>
          <a:prstGeom prst="rect">
            <a:avLst/>
          </a:prstGeom>
          <a:solidFill>
            <a:srgbClr val="FFFFFF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4023360" y="3611880"/>
            <a:ext cx="160020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-8.0%</a:t>
            </a:r>
            <a:endParaRPr lang="en-US" sz="1000" dirty="0"/>
          </a:p>
        </p:txBody>
      </p:sp>
      <p:sp>
        <p:nvSpPr>
          <p:cNvPr id="80" name="Shape 78"/>
          <p:cNvSpPr/>
          <p:nvPr/>
        </p:nvSpPr>
        <p:spPr>
          <a:xfrm>
            <a:off x="5669280" y="3611880"/>
            <a:ext cx="1554480" cy="288036"/>
          </a:xfrm>
          <a:prstGeom prst="rect">
            <a:avLst/>
          </a:prstGeom>
          <a:solidFill>
            <a:srgbClr val="FFFFFF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1" name="Text 79"/>
          <p:cNvSpPr/>
          <p:nvPr/>
        </p:nvSpPr>
        <p:spPr>
          <a:xfrm>
            <a:off x="5715000" y="3611880"/>
            <a:ext cx="146304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+1.5 pp</a:t>
            </a:r>
            <a:endParaRPr lang="en-US" sz="1000" dirty="0"/>
          </a:p>
        </p:txBody>
      </p:sp>
      <p:sp>
        <p:nvSpPr>
          <p:cNvPr id="82" name="Shape 80"/>
          <p:cNvSpPr/>
          <p:nvPr/>
        </p:nvSpPr>
        <p:spPr>
          <a:xfrm>
            <a:off x="7223760" y="3611880"/>
            <a:ext cx="1554480" cy="288036"/>
          </a:xfrm>
          <a:prstGeom prst="rect">
            <a:avLst/>
          </a:prstGeom>
          <a:solidFill>
            <a:srgbClr val="FFFFFF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3" name="Text 81"/>
          <p:cNvSpPr/>
          <p:nvPr/>
        </p:nvSpPr>
        <p:spPr>
          <a:xfrm>
            <a:off x="7269480" y="3611880"/>
            <a:ext cx="146304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yrs</a:t>
            </a:r>
            <a:endParaRPr lang="en-US" sz="1000" dirty="0"/>
          </a:p>
        </p:txBody>
      </p:sp>
      <p:sp>
        <p:nvSpPr>
          <p:cNvPr id="84" name="Shape 82"/>
          <p:cNvSpPr/>
          <p:nvPr/>
        </p:nvSpPr>
        <p:spPr>
          <a:xfrm>
            <a:off x="365760" y="3909060"/>
            <a:ext cx="1920240" cy="288036"/>
          </a:xfrm>
          <a:prstGeom prst="rect">
            <a:avLst/>
          </a:prstGeom>
          <a:solidFill>
            <a:srgbClr val="F3F5FA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5" name="Text 83"/>
          <p:cNvSpPr/>
          <p:nvPr/>
        </p:nvSpPr>
        <p:spPr>
          <a:xfrm>
            <a:off x="411480" y="3909060"/>
            <a:ext cx="182880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Max DD (Comp.)</a:t>
            </a:r>
            <a:endParaRPr lang="en-US" sz="1000" dirty="0"/>
          </a:p>
        </p:txBody>
      </p:sp>
      <p:sp>
        <p:nvSpPr>
          <p:cNvPr id="86" name="Shape 84"/>
          <p:cNvSpPr/>
          <p:nvPr/>
        </p:nvSpPr>
        <p:spPr>
          <a:xfrm>
            <a:off x="2286000" y="3909060"/>
            <a:ext cx="1691640" cy="288036"/>
          </a:xfrm>
          <a:prstGeom prst="rect">
            <a:avLst/>
          </a:prstGeom>
          <a:solidFill>
            <a:srgbClr val="F3F5FA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7" name="Text 85"/>
          <p:cNvSpPr/>
          <p:nvPr/>
        </p:nvSpPr>
        <p:spPr>
          <a:xfrm>
            <a:off x="2331720" y="3909060"/>
            <a:ext cx="160020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-20.3%</a:t>
            </a:r>
            <a:endParaRPr lang="en-US" sz="1000" dirty="0"/>
          </a:p>
        </p:txBody>
      </p:sp>
      <p:sp>
        <p:nvSpPr>
          <p:cNvPr id="88" name="Shape 86"/>
          <p:cNvSpPr/>
          <p:nvPr/>
        </p:nvSpPr>
        <p:spPr>
          <a:xfrm>
            <a:off x="3977640" y="3909060"/>
            <a:ext cx="1691640" cy="288036"/>
          </a:xfrm>
          <a:prstGeom prst="rect">
            <a:avLst/>
          </a:prstGeom>
          <a:solidFill>
            <a:srgbClr val="F3F5FA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9" name="Text 87"/>
          <p:cNvSpPr/>
          <p:nvPr/>
        </p:nvSpPr>
        <p:spPr>
          <a:xfrm>
            <a:off x="4023360" y="3909060"/>
            <a:ext cx="160020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-15.3%</a:t>
            </a:r>
            <a:endParaRPr lang="en-US" sz="1000" dirty="0"/>
          </a:p>
        </p:txBody>
      </p:sp>
      <p:sp>
        <p:nvSpPr>
          <p:cNvPr id="90" name="Shape 88"/>
          <p:cNvSpPr/>
          <p:nvPr/>
        </p:nvSpPr>
        <p:spPr>
          <a:xfrm>
            <a:off x="5669280" y="3909060"/>
            <a:ext cx="1554480" cy="288036"/>
          </a:xfrm>
          <a:prstGeom prst="rect">
            <a:avLst/>
          </a:prstGeom>
          <a:solidFill>
            <a:srgbClr val="F3F5FA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1" name="Text 89"/>
          <p:cNvSpPr/>
          <p:nvPr/>
        </p:nvSpPr>
        <p:spPr>
          <a:xfrm>
            <a:off x="5715000" y="3909060"/>
            <a:ext cx="146304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EF444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-5.0 pp</a:t>
            </a:r>
            <a:endParaRPr lang="en-US" sz="1000" dirty="0"/>
          </a:p>
        </p:txBody>
      </p:sp>
      <p:sp>
        <p:nvSpPr>
          <p:cNvPr id="92" name="Shape 90"/>
          <p:cNvSpPr/>
          <p:nvPr/>
        </p:nvSpPr>
        <p:spPr>
          <a:xfrm>
            <a:off x="7223760" y="3909060"/>
            <a:ext cx="1554480" cy="288036"/>
          </a:xfrm>
          <a:prstGeom prst="rect">
            <a:avLst/>
          </a:prstGeom>
          <a:solidFill>
            <a:srgbClr val="F3F5FA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3" name="Text 91"/>
          <p:cNvSpPr/>
          <p:nvPr/>
        </p:nvSpPr>
        <p:spPr>
          <a:xfrm>
            <a:off x="7269480" y="3909060"/>
            <a:ext cx="146304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yrs</a:t>
            </a:r>
            <a:endParaRPr lang="en-US" sz="1000" dirty="0"/>
          </a:p>
        </p:txBody>
      </p:sp>
      <p:sp>
        <p:nvSpPr>
          <p:cNvPr id="94" name="Shape 92"/>
          <p:cNvSpPr/>
          <p:nvPr/>
        </p:nvSpPr>
        <p:spPr>
          <a:xfrm>
            <a:off x="365760" y="4206240"/>
            <a:ext cx="1920240" cy="288036"/>
          </a:xfrm>
          <a:prstGeom prst="rect">
            <a:avLst/>
          </a:prstGeom>
          <a:solidFill>
            <a:srgbClr val="FFFFFF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5" name="Text 93"/>
          <p:cNvSpPr/>
          <p:nvPr/>
        </p:nvSpPr>
        <p:spPr>
          <a:xfrm>
            <a:off x="411480" y="4206240"/>
            <a:ext cx="182880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Win Rate</a:t>
            </a:r>
            <a:endParaRPr lang="en-US" sz="1000" dirty="0"/>
          </a:p>
        </p:txBody>
      </p:sp>
      <p:sp>
        <p:nvSpPr>
          <p:cNvPr id="96" name="Shape 94"/>
          <p:cNvSpPr/>
          <p:nvPr/>
        </p:nvSpPr>
        <p:spPr>
          <a:xfrm>
            <a:off x="2286000" y="4206240"/>
            <a:ext cx="1691640" cy="288036"/>
          </a:xfrm>
          <a:prstGeom prst="rect">
            <a:avLst/>
          </a:prstGeom>
          <a:solidFill>
            <a:srgbClr val="FFFFFF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7" name="Text 95"/>
          <p:cNvSpPr/>
          <p:nvPr/>
        </p:nvSpPr>
        <p:spPr>
          <a:xfrm>
            <a:off x="2331720" y="4206240"/>
            <a:ext cx="160020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67%</a:t>
            </a:r>
            <a:endParaRPr lang="en-US" sz="1000" dirty="0"/>
          </a:p>
        </p:txBody>
      </p:sp>
      <p:sp>
        <p:nvSpPr>
          <p:cNvPr id="98" name="Shape 96"/>
          <p:cNvSpPr/>
          <p:nvPr/>
        </p:nvSpPr>
        <p:spPr>
          <a:xfrm>
            <a:off x="3977640" y="4206240"/>
            <a:ext cx="1691640" cy="288036"/>
          </a:xfrm>
          <a:prstGeom prst="rect">
            <a:avLst/>
          </a:prstGeom>
          <a:solidFill>
            <a:srgbClr val="FFFFFF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9" name="Text 97"/>
          <p:cNvSpPr/>
          <p:nvPr/>
        </p:nvSpPr>
        <p:spPr>
          <a:xfrm>
            <a:off x="4023360" y="4206240"/>
            <a:ext cx="160020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64%</a:t>
            </a:r>
            <a:endParaRPr lang="en-US" sz="1000" dirty="0"/>
          </a:p>
        </p:txBody>
      </p:sp>
      <p:sp>
        <p:nvSpPr>
          <p:cNvPr id="100" name="Shape 98"/>
          <p:cNvSpPr/>
          <p:nvPr/>
        </p:nvSpPr>
        <p:spPr>
          <a:xfrm>
            <a:off x="5669280" y="4206240"/>
            <a:ext cx="1554480" cy="288036"/>
          </a:xfrm>
          <a:prstGeom prst="rect">
            <a:avLst/>
          </a:prstGeom>
          <a:solidFill>
            <a:srgbClr val="FFFFFF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1" name="Text 99"/>
          <p:cNvSpPr/>
          <p:nvPr/>
        </p:nvSpPr>
        <p:spPr>
          <a:xfrm>
            <a:off x="5715000" y="4206240"/>
            <a:ext cx="146304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+3 pp</a:t>
            </a:r>
            <a:endParaRPr lang="en-US" sz="1000" dirty="0"/>
          </a:p>
        </p:txBody>
      </p:sp>
      <p:sp>
        <p:nvSpPr>
          <p:cNvPr id="102" name="Shape 100"/>
          <p:cNvSpPr/>
          <p:nvPr/>
        </p:nvSpPr>
        <p:spPr>
          <a:xfrm>
            <a:off x="7223760" y="4206240"/>
            <a:ext cx="1554480" cy="288036"/>
          </a:xfrm>
          <a:prstGeom prst="rect">
            <a:avLst/>
          </a:prstGeom>
          <a:solidFill>
            <a:srgbClr val="FFFFFF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3" name="Text 101"/>
          <p:cNvSpPr/>
          <p:nvPr/>
        </p:nvSpPr>
        <p:spPr>
          <a:xfrm>
            <a:off x="7269480" y="4206240"/>
            <a:ext cx="1463040" cy="288036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 yrs</a:t>
            </a:r>
            <a:endParaRPr lang="en-US" sz="1000" dirty="0"/>
          </a:p>
        </p:txBody>
      </p:sp>
      <p:sp>
        <p:nvSpPr>
          <p:cNvPr id="104" name="Text 102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figures sourced from StockMock  ·  1,721 trades (2D) / 1,725 trades (1D)  ·  Starting capital ₹1,21,000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&amp; RETURNS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Equity Curves  —  2D vs 1D Adaptive  (2019–2026)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78408"/>
            <a:ext cx="1965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978408"/>
            <a:ext cx="9144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30352" y="987552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2D Flat CAGR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30352" y="116128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19.2%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514600" y="978408"/>
            <a:ext cx="1965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2514600" y="978408"/>
            <a:ext cx="91440" cy="43891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2679192" y="987552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2D Comp. CAGR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2679192" y="116128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39.7%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978408"/>
            <a:ext cx="1965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Shape 11"/>
          <p:cNvSpPr/>
          <p:nvPr/>
        </p:nvSpPr>
        <p:spPr>
          <a:xfrm>
            <a:off x="4663440" y="978408"/>
            <a:ext cx="91440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828032" y="987552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1D Flat CAGR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4828032" y="116128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16.2%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812280" y="978408"/>
            <a:ext cx="1965960" cy="438912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Shape 15"/>
          <p:cNvSpPr/>
          <p:nvPr/>
        </p:nvSpPr>
        <p:spPr>
          <a:xfrm>
            <a:off x="6812280" y="978408"/>
            <a:ext cx="91440" cy="438912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6976872" y="987552"/>
            <a:ext cx="16916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1D Comp. CAGR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6976872" y="1161288"/>
            <a:ext cx="16916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28.7%</a:t>
            </a:r>
            <a:endParaRPr lang="en-US" sz="1400" dirty="0"/>
          </a:p>
        </p:txBody>
      </p:sp>
      <p:pic>
        <p:nvPicPr>
          <p:cNvPr id="20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74320" y="1508760"/>
            <a:ext cx="8595360" cy="3291840"/>
          </a:xfrm>
          <a:prstGeom prst="rect">
            <a:avLst/>
          </a:prstGeom>
        </p:spPr>
      </p:pic>
      <p:sp>
        <p:nvSpPr>
          <p:cNvPr id="21" name="Text 18"/>
          <p:cNvSpPr/>
          <p:nvPr/>
        </p:nvSpPr>
        <p:spPr>
          <a:xfrm>
            <a:off x="365760" y="484632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 = 2D Adaptive  ·  Blue = 1D Adaptive  ·  Left: fixed lot  ·  Right: compounded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&amp; RETURNS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Sharpe Ratio  —  Fixed vs Adaptive Configurations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78992"/>
            <a:ext cx="8412480" cy="658368"/>
          </a:xfrm>
          <a:prstGeom prst="rect">
            <a:avLst/>
          </a:prstGeom>
          <a:solidFill>
            <a:srgbClr val="0D1420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548640" y="1097280"/>
            <a:ext cx="80467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Insight: </a:t>
            </a:r>
            <a:r>
              <a:rPr lang="en-US" sz="1100" dirty="0">
                <a:solidFill>
                  <a:srgbClr val="C9D6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All fixed configurations underperform both adaptive rules. The 2D Adaptive achieves a Sharpe of </a:t>
            </a: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2.78</a:t>
            </a:r>
            <a:r>
              <a:rPr lang="en-US" sz="1100" dirty="0">
                <a:solidFill>
                  <a:srgbClr val="C9D6E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— 40%+ above the best fixed alternative (1.61), confirming the value of regime conditioning.</a:t>
            </a:r>
            <a:endParaRPr lang="en-US" sz="11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65760" y="1847088"/>
            <a:ext cx="8412480" cy="3017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Fixed configs tested: 3 offsets × 6 SL levels  ·  Dashed lines show adaptive benchmarks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SIGNAL ANALYSIS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VIX and Days-to-Expiry Both Drive Returns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069080" cy="777240"/>
          </a:xfrm>
          <a:prstGeom prst="rect">
            <a:avLst/>
          </a:prstGeom>
          <a:solidFill>
            <a:srgbClr val="0D1420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109728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548640" y="11155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VIX &gt; 28 is the Prize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48640" y="140817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F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Avg daily P&amp;L of ₹836 during extreme vol vs only ₹62 in low-vol regimes — a 13× differential that justifies dynamic SL sizing.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617720" y="1097280"/>
            <a:ext cx="4069080" cy="777240"/>
          </a:xfrm>
          <a:prstGeom prst="rect">
            <a:avLst/>
          </a:prstGeom>
          <a:solidFill>
            <a:srgbClr val="0D1420"/>
          </a:solidFill>
          <a:ln w="635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Shape 7"/>
          <p:cNvSpPr/>
          <p:nvPr/>
        </p:nvSpPr>
        <p:spPr>
          <a:xfrm>
            <a:off x="4617720" y="1097280"/>
            <a:ext cx="109728" cy="77724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4800600" y="1115568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0-DTE Dominates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800600" y="1408176"/>
            <a:ext cx="374904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9CAFC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Expiry-day trades average ₹426 daily P&amp;L, falling sharply to ₹69 at 3-DTE. The decay curve is non-linear, making DTE a critical conditioning signal.</a:t>
            </a:r>
            <a:endParaRPr lang="en-US" sz="950" dirty="0"/>
          </a:p>
        </p:txBody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74320" y="1993392"/>
            <a:ext cx="8595360" cy="2880360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Left: Avg daily P&amp;L grouped by VIX regime  ·  Right: Avg daily P&amp;L grouped by days-to-expiry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ADAPTIVE RULE DERIVATION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1D Rule  —  Optimal Stop-Loss per VIX Regime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115568"/>
            <a:ext cx="960120" cy="292608"/>
          </a:xfrm>
          <a:prstGeom prst="rect">
            <a:avLst/>
          </a:prstGeom>
          <a:solidFill>
            <a:srgbClr val="0D1420"/>
          </a:solidFill>
          <a:ln w="12700">
            <a:solidFill>
              <a:srgbClr val="0D14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86868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VIX Bucket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1325880" y="1115568"/>
            <a:ext cx="914400" cy="292608"/>
          </a:xfrm>
          <a:prstGeom prst="rect">
            <a:avLst/>
          </a:prstGeom>
          <a:solidFill>
            <a:srgbClr val="0D1420"/>
          </a:solidFill>
          <a:ln w="12700">
            <a:solidFill>
              <a:srgbClr val="0D14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71600" y="1115568"/>
            <a:ext cx="8229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SL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286000" y="1115568"/>
            <a:ext cx="914400" cy="292608"/>
          </a:xfrm>
          <a:prstGeom prst="rect">
            <a:avLst/>
          </a:prstGeom>
          <a:solidFill>
            <a:srgbClr val="0D1420"/>
          </a:solidFill>
          <a:ln w="12700">
            <a:solidFill>
              <a:srgbClr val="0D14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2331720" y="1115568"/>
            <a:ext cx="8229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Regime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246120" y="1115568"/>
            <a:ext cx="914400" cy="292608"/>
          </a:xfrm>
          <a:prstGeom prst="rect">
            <a:avLst/>
          </a:prstGeom>
          <a:solidFill>
            <a:srgbClr val="0D1420"/>
          </a:solidFill>
          <a:ln w="12700">
            <a:solidFill>
              <a:srgbClr val="0D142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91840" y="1115568"/>
            <a:ext cx="822960" cy="292608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Rationale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408176"/>
            <a:ext cx="960120" cy="301752"/>
          </a:xfrm>
          <a:prstGeom prst="rect">
            <a:avLst/>
          </a:prstGeom>
          <a:solidFill>
            <a:srgbClr val="FFFFFF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5760" y="1408176"/>
            <a:ext cx="86868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12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1325880" y="1408176"/>
            <a:ext cx="914400" cy="301752"/>
          </a:xfrm>
          <a:prstGeom prst="rect">
            <a:avLst/>
          </a:prstGeom>
          <a:solidFill>
            <a:srgbClr val="FFFFFF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371600" y="1408176"/>
            <a:ext cx="8229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286000" y="1408176"/>
            <a:ext cx="914400" cy="301752"/>
          </a:xfrm>
          <a:prstGeom prst="rect">
            <a:avLst/>
          </a:prstGeom>
          <a:solidFill>
            <a:srgbClr val="FFFFFF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2331720" y="1408176"/>
            <a:ext cx="8229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Very Low Vol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3246120" y="1408176"/>
            <a:ext cx="914400" cy="301752"/>
          </a:xfrm>
          <a:prstGeom prst="rect">
            <a:avLst/>
          </a:prstGeom>
          <a:solidFill>
            <a:srgbClr val="FFFFFF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291840" y="1408176"/>
            <a:ext cx="8229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Tighter SL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1723644"/>
            <a:ext cx="960120" cy="301752"/>
          </a:xfrm>
          <a:prstGeom prst="rect">
            <a:avLst/>
          </a:prstGeom>
          <a:solidFill>
            <a:srgbClr val="F3F5FA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365760" y="1723644"/>
            <a:ext cx="86868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12–15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325880" y="1723644"/>
            <a:ext cx="914400" cy="301752"/>
          </a:xfrm>
          <a:prstGeom prst="rect">
            <a:avLst/>
          </a:prstGeom>
          <a:solidFill>
            <a:srgbClr val="F3F5FA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1371600" y="1723644"/>
            <a:ext cx="8229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2286000" y="1723644"/>
            <a:ext cx="914400" cy="301752"/>
          </a:xfrm>
          <a:prstGeom prst="rect">
            <a:avLst/>
          </a:prstGeom>
          <a:solidFill>
            <a:srgbClr val="F3F5FA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5" name="Text 23"/>
          <p:cNvSpPr/>
          <p:nvPr/>
        </p:nvSpPr>
        <p:spPr>
          <a:xfrm>
            <a:off x="2331720" y="1723644"/>
            <a:ext cx="8229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Low Vol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3246120" y="1723644"/>
            <a:ext cx="914400" cy="301752"/>
          </a:xfrm>
          <a:prstGeom prst="rect">
            <a:avLst/>
          </a:prstGeom>
          <a:solidFill>
            <a:srgbClr val="F3F5FA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3291840" y="1723644"/>
            <a:ext cx="8229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Std cushion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320040" y="2039112"/>
            <a:ext cx="960120" cy="301752"/>
          </a:xfrm>
          <a:prstGeom prst="rect">
            <a:avLst/>
          </a:prstGeom>
          <a:solidFill>
            <a:srgbClr val="FFFFFF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65760" y="2039112"/>
            <a:ext cx="86868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15–18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325880" y="2039112"/>
            <a:ext cx="914400" cy="301752"/>
          </a:xfrm>
          <a:prstGeom prst="rect">
            <a:avLst/>
          </a:prstGeom>
          <a:solidFill>
            <a:srgbClr val="FFFFFF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9"/>
          <p:cNvSpPr/>
          <p:nvPr/>
        </p:nvSpPr>
        <p:spPr>
          <a:xfrm>
            <a:off x="1371600" y="2039112"/>
            <a:ext cx="8229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2286000" y="2039112"/>
            <a:ext cx="914400" cy="301752"/>
          </a:xfrm>
          <a:prstGeom prst="rect">
            <a:avLst/>
          </a:prstGeom>
          <a:solidFill>
            <a:srgbClr val="FFFFFF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3" name="Text 31"/>
          <p:cNvSpPr/>
          <p:nvPr/>
        </p:nvSpPr>
        <p:spPr>
          <a:xfrm>
            <a:off x="2331720" y="2039112"/>
            <a:ext cx="8229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Moderate Vol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246120" y="2039112"/>
            <a:ext cx="914400" cy="301752"/>
          </a:xfrm>
          <a:prstGeom prst="rect">
            <a:avLst/>
          </a:prstGeom>
          <a:solidFill>
            <a:srgbClr val="FFFFFF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5" name="Text 33"/>
          <p:cNvSpPr/>
          <p:nvPr/>
        </p:nvSpPr>
        <p:spPr>
          <a:xfrm>
            <a:off x="3291840" y="2039112"/>
            <a:ext cx="8229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Std cushion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20040" y="2354580"/>
            <a:ext cx="960120" cy="301752"/>
          </a:xfrm>
          <a:prstGeom prst="rect">
            <a:avLst/>
          </a:prstGeom>
          <a:solidFill>
            <a:srgbClr val="F3F5FA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7" name="Text 35"/>
          <p:cNvSpPr/>
          <p:nvPr/>
        </p:nvSpPr>
        <p:spPr>
          <a:xfrm>
            <a:off x="365760" y="2354580"/>
            <a:ext cx="86868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18–22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1325880" y="2354580"/>
            <a:ext cx="914400" cy="301752"/>
          </a:xfrm>
          <a:prstGeom prst="rect">
            <a:avLst/>
          </a:prstGeom>
          <a:solidFill>
            <a:srgbClr val="F3F5FA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1371600" y="2354580"/>
            <a:ext cx="8229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2286000" y="2354580"/>
            <a:ext cx="914400" cy="301752"/>
          </a:xfrm>
          <a:prstGeom prst="rect">
            <a:avLst/>
          </a:prstGeom>
          <a:solidFill>
            <a:srgbClr val="F3F5FA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1" name="Text 39"/>
          <p:cNvSpPr/>
          <p:nvPr/>
        </p:nvSpPr>
        <p:spPr>
          <a:xfrm>
            <a:off x="2331720" y="2354580"/>
            <a:ext cx="8229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Elevated Vol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3246120" y="2354580"/>
            <a:ext cx="914400" cy="301752"/>
          </a:xfrm>
          <a:prstGeom prst="rect">
            <a:avLst/>
          </a:prstGeom>
          <a:solidFill>
            <a:srgbClr val="F3F5FA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3" name="Text 41"/>
          <p:cNvSpPr/>
          <p:nvPr/>
        </p:nvSpPr>
        <p:spPr>
          <a:xfrm>
            <a:off x="3291840" y="2354580"/>
            <a:ext cx="8229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Noise buffer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20040" y="2670048"/>
            <a:ext cx="960120" cy="301752"/>
          </a:xfrm>
          <a:prstGeom prst="rect">
            <a:avLst/>
          </a:prstGeom>
          <a:solidFill>
            <a:srgbClr val="FFFFFF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5" name="Text 43"/>
          <p:cNvSpPr/>
          <p:nvPr/>
        </p:nvSpPr>
        <p:spPr>
          <a:xfrm>
            <a:off x="365760" y="2670048"/>
            <a:ext cx="86868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22–28</a:t>
            </a:r>
            <a:endParaRPr lang="en-US" sz="950" dirty="0"/>
          </a:p>
        </p:txBody>
      </p:sp>
      <p:sp>
        <p:nvSpPr>
          <p:cNvPr id="46" name="Shape 44"/>
          <p:cNvSpPr/>
          <p:nvPr/>
        </p:nvSpPr>
        <p:spPr>
          <a:xfrm>
            <a:off x="1325880" y="2670048"/>
            <a:ext cx="914400" cy="301752"/>
          </a:xfrm>
          <a:prstGeom prst="rect">
            <a:avLst/>
          </a:prstGeom>
          <a:solidFill>
            <a:srgbClr val="FFFFFF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7" name="Text 45"/>
          <p:cNvSpPr/>
          <p:nvPr/>
        </p:nvSpPr>
        <p:spPr>
          <a:xfrm>
            <a:off x="1371600" y="2670048"/>
            <a:ext cx="8229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30%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2286000" y="2670048"/>
            <a:ext cx="914400" cy="301752"/>
          </a:xfrm>
          <a:prstGeom prst="rect">
            <a:avLst/>
          </a:prstGeom>
          <a:solidFill>
            <a:srgbClr val="FFFFFF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2331720" y="2670048"/>
            <a:ext cx="8229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 Vol</a:t>
            </a:r>
            <a:endParaRPr lang="en-US" sz="950" dirty="0"/>
          </a:p>
        </p:txBody>
      </p:sp>
      <p:sp>
        <p:nvSpPr>
          <p:cNvPr id="50" name="Shape 48"/>
          <p:cNvSpPr/>
          <p:nvPr/>
        </p:nvSpPr>
        <p:spPr>
          <a:xfrm>
            <a:off x="3246120" y="2670048"/>
            <a:ext cx="914400" cy="301752"/>
          </a:xfrm>
          <a:prstGeom prst="rect">
            <a:avLst/>
          </a:prstGeom>
          <a:solidFill>
            <a:srgbClr val="FFFFFF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1" name="Text 49"/>
          <p:cNvSpPr/>
          <p:nvPr/>
        </p:nvSpPr>
        <p:spPr>
          <a:xfrm>
            <a:off x="3291840" y="2670048"/>
            <a:ext cx="8229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 tail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20040" y="2985516"/>
            <a:ext cx="960120" cy="301752"/>
          </a:xfrm>
          <a:prstGeom prst="rect">
            <a:avLst/>
          </a:prstGeom>
          <a:solidFill>
            <a:srgbClr val="F3F5FA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3" name="Text 51"/>
          <p:cNvSpPr/>
          <p:nvPr/>
        </p:nvSpPr>
        <p:spPr>
          <a:xfrm>
            <a:off x="365760" y="2985516"/>
            <a:ext cx="86868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 28</a:t>
            </a:r>
            <a:endParaRPr lang="en-US" sz="950" dirty="0"/>
          </a:p>
        </p:txBody>
      </p:sp>
      <p:sp>
        <p:nvSpPr>
          <p:cNvPr id="54" name="Shape 52"/>
          <p:cNvSpPr/>
          <p:nvPr/>
        </p:nvSpPr>
        <p:spPr>
          <a:xfrm>
            <a:off x="1325880" y="2985516"/>
            <a:ext cx="914400" cy="301752"/>
          </a:xfrm>
          <a:prstGeom prst="rect">
            <a:avLst/>
          </a:prstGeom>
          <a:solidFill>
            <a:srgbClr val="F3F5FA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5" name="Text 53"/>
          <p:cNvSpPr/>
          <p:nvPr/>
        </p:nvSpPr>
        <p:spPr>
          <a:xfrm>
            <a:off x="1371600" y="2985516"/>
            <a:ext cx="8229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40%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2286000" y="2985516"/>
            <a:ext cx="914400" cy="301752"/>
          </a:xfrm>
          <a:prstGeom prst="rect">
            <a:avLst/>
          </a:prstGeom>
          <a:solidFill>
            <a:srgbClr val="F3F5FA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7" name="Text 55"/>
          <p:cNvSpPr/>
          <p:nvPr/>
        </p:nvSpPr>
        <p:spPr>
          <a:xfrm>
            <a:off x="2331720" y="2985516"/>
            <a:ext cx="8229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Extreme Vol</a:t>
            </a:r>
            <a:endParaRPr lang="en-US" sz="950" dirty="0"/>
          </a:p>
        </p:txBody>
      </p:sp>
      <p:sp>
        <p:nvSpPr>
          <p:cNvPr id="58" name="Shape 56"/>
          <p:cNvSpPr/>
          <p:nvPr/>
        </p:nvSpPr>
        <p:spPr>
          <a:xfrm>
            <a:off x="3246120" y="2985516"/>
            <a:ext cx="914400" cy="301752"/>
          </a:xfrm>
          <a:prstGeom prst="rect">
            <a:avLst/>
          </a:prstGeom>
          <a:solidFill>
            <a:srgbClr val="F3F5FA"/>
          </a:solidFill>
          <a:ln w="3175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3291840" y="2985516"/>
            <a:ext cx="822960" cy="301752"/>
          </a:xfrm>
          <a:prstGeom prst="rect">
            <a:avLst/>
          </a:prstGeom>
          <a:noFill/>
          <a:ln/>
        </p:spPr>
        <p:txBody>
          <a:bodyPr wrap="square" lIns="38100" tIns="38100" rIns="38100" bIns="3810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Crisis prem.</a:t>
            </a:r>
            <a:endParaRPr lang="en-US" sz="950" dirty="0"/>
          </a:p>
        </p:txBody>
      </p:sp>
      <p:pic>
        <p:nvPicPr>
          <p:cNvPr id="60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160520" y="1078992"/>
            <a:ext cx="4754880" cy="3840480"/>
          </a:xfrm>
          <a:prstGeom prst="rect">
            <a:avLst/>
          </a:prstGeom>
        </p:spPr>
      </p:pic>
      <p:sp>
        <p:nvSpPr>
          <p:cNvPr id="61" name="Text 58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 bars = winner per VIX bucket  ·  Offset fixed at ±100 pts throughout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5486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ADAPTIVE RULE DERIVATION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2D Adaptive Rule  —  VIX × DTE Parameter Map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1042416"/>
            <a:ext cx="841248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Each of the 30 cells (6 VIX regimes × 5 DTE buckets) holds its own independently optimised (Offset, SL%) pair. Colour encodes stop-loss intensity — darker orange signals tighter risk management.</a:t>
            </a:r>
            <a:endParaRPr lang="en-US" sz="11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74320" y="1600200"/>
            <a:ext cx="8595360" cy="32918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30 regime cells · Offset text overlaid per cell · SL% encoded in heatmap colour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PERFORMANCE &amp; RETURNS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Monthly P&amp;L Heatmap - 2D Adaptive  (Flat Lot, ₹)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1060704"/>
            <a:ext cx="1965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57200" y="107899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+₹28k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37160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Month (Jun)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2514600" y="1060704"/>
            <a:ext cx="1965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2606040" y="107899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15%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2606040" y="137160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Loss Month Rate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4663440" y="1060704"/>
            <a:ext cx="1965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54880" y="107899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+₹46k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754880" y="137160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Best Annual Month Avg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812280" y="1060704"/>
            <a:ext cx="1965960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D1D5DB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6903720" y="1078992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903720" y="1371600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Seasonally Weakest</a:t>
            </a:r>
            <a:endParaRPr lang="en-US" sz="850" dirty="0"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74320" y="1755648"/>
            <a:ext cx="8595360" cy="310896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Green = profitable months  ·  Red = loss months  ·  Total row aggregates all years per calendar month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2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4572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kern="0" spc="400" dirty="0">
                <a:solidFill>
                  <a:srgbClr val="2563E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RISK &amp; ROBUSTNESS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457200" y="475488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11827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Monte Carlo  -  10,000 Block Bootstrap Simulations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1078992"/>
            <a:ext cx="1965960" cy="777240"/>
          </a:xfrm>
          <a:prstGeom prst="rect">
            <a:avLst/>
          </a:prstGeom>
          <a:solidFill>
            <a:srgbClr val="0D1420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1965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411480" y="1133856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21%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11480" y="1536192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D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Median 5-Yr CAGR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11480" y="1719072"/>
            <a:ext cx="1783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Full history sim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2468880" y="1078992"/>
            <a:ext cx="1965960" cy="777240"/>
          </a:xfrm>
          <a:prstGeom prst="rect">
            <a:avLst/>
          </a:prstGeom>
          <a:solidFill>
            <a:srgbClr val="0D1420"/>
          </a:solidFill>
          <a:ln w="9525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2468880" y="1078992"/>
            <a:ext cx="1965960" cy="54864"/>
          </a:xfrm>
          <a:prstGeom prst="rect">
            <a:avLst/>
          </a:prstGeom>
          <a:solidFill>
            <a:srgbClr val="3B82F6"/>
          </a:solidFill>
          <a:ln w="12700">
            <a:solidFill>
              <a:srgbClr val="3B82F6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2560320" y="1133856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3.2%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2560320" y="1536192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D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5th Pct CAGR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2560320" y="1719072"/>
            <a:ext cx="1783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3B82F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Worst-case floor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4617720" y="1078992"/>
            <a:ext cx="1965960" cy="777240"/>
          </a:xfrm>
          <a:prstGeom prst="rect">
            <a:avLst/>
          </a:prstGeom>
          <a:solidFill>
            <a:srgbClr val="0D1420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4617720" y="1078992"/>
            <a:ext cx="1965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4709160" y="1133856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₹3.1L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709160" y="1536192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D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Median Final Equity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709160" y="1719072"/>
            <a:ext cx="1783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From ₹1.21L base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6766560" y="1078992"/>
            <a:ext cx="1965960" cy="777240"/>
          </a:xfrm>
          <a:prstGeom prst="rect">
            <a:avLst/>
          </a:prstGeom>
          <a:solidFill>
            <a:srgbClr val="0D1420"/>
          </a:solidFill>
          <a:ln w="9525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6766560" y="1078992"/>
            <a:ext cx="196596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6858000" y="1133856"/>
            <a:ext cx="1783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25.5%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858000" y="1536192"/>
            <a:ext cx="1783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B9DB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Regime-Wt. CAGR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858000" y="1719072"/>
            <a:ext cx="178308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50" i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Recent regime bias</a:t>
            </a:r>
            <a:endParaRPr lang="en-US" sz="750" dirty="0"/>
          </a:p>
        </p:txBody>
      </p:sp>
      <p:pic>
        <p:nvPicPr>
          <p:cNvPr id="24" name="Image 0" descr="preencoded.png"/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274320" y="1965960"/>
            <a:ext cx="8595360" cy="2926080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i="1" dirty="0">
                <a:solidFill>
                  <a:srgbClr val="6B728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Block bootstrap  ·  Block size = 20 trades  ·  Full history &amp; regime-weighted (recent 2×) simulations compared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1311</Words>
  <Application>Microsoft Office PowerPoint</Application>
  <PresentationFormat>On-screen Show (16:9)</PresentationFormat>
  <Paragraphs>259</Paragraphs>
  <Slides>12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Calibri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Manan Moraje</cp:lastModifiedBy>
  <cp:revision>3</cp:revision>
  <dcterms:created xsi:type="dcterms:W3CDTF">2026-05-02T14:40:41Z</dcterms:created>
  <dcterms:modified xsi:type="dcterms:W3CDTF">2026-05-02T15:26:17Z</dcterms:modified>
</cp:coreProperties>
</file>